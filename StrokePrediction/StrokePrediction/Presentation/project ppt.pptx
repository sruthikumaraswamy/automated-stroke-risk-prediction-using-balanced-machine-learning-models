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57" r:id="rId3"/>
    <p:sldId id="270" r:id="rId4"/>
    <p:sldId id="258" r:id="rId5"/>
    <p:sldId id="271" r:id="rId6"/>
    <p:sldId id="274" r:id="rId7"/>
    <p:sldId id="260" r:id="rId8"/>
    <p:sldId id="275" r:id="rId9"/>
    <p:sldId id="276" r:id="rId10"/>
    <p:sldId id="277" r:id="rId11"/>
    <p:sldId id="278" r:id="rId12"/>
    <p:sldId id="261" r:id="rId13"/>
    <p:sldId id="262" r:id="rId14"/>
    <p:sldId id="263" r:id="rId15"/>
    <p:sldId id="279" r:id="rId16"/>
    <p:sldId id="280" r:id="rId17"/>
    <p:sldId id="265" r:id="rId18"/>
    <p:sldId id="272" r:id="rId19"/>
    <p:sldId id="273" r:id="rId20"/>
    <p:sldId id="269" r:id="rId2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490"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5FCC12-9832-6F48-5BA8-5E6D7C1D35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Detecting Side Effects of Adverse Drug Reactions Through Drug-Drug Interactions Using Graph Neural Networks and Self-Supervised Learning</a:t>
            </a:r>
            <a:endParaRPr lang="en-IN"/>
          </a:p>
        </p:txBody>
      </p:sp>
      <p:sp>
        <p:nvSpPr>
          <p:cNvPr id="3" name="Date Placeholder 2">
            <a:extLst>
              <a:ext uri="{FF2B5EF4-FFF2-40B4-BE49-F238E27FC236}">
                <a16:creationId xmlns:a16="http://schemas.microsoft.com/office/drawing/2014/main" id="{EF26BBC3-C861-B0AF-EE30-DFBB6AE7CD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D4B08-DC6A-4287-8D1E-A80266483591}" type="datetimeFigureOut">
              <a:rPr lang="en-IN" smtClean="0"/>
              <a:t>18-02-2026</a:t>
            </a:fld>
            <a:endParaRPr lang="en-IN"/>
          </a:p>
        </p:txBody>
      </p:sp>
      <p:sp>
        <p:nvSpPr>
          <p:cNvPr id="4" name="Footer Placeholder 3">
            <a:extLst>
              <a:ext uri="{FF2B5EF4-FFF2-40B4-BE49-F238E27FC236}">
                <a16:creationId xmlns:a16="http://schemas.microsoft.com/office/drawing/2014/main" id="{58B1F219-2CA0-9D30-AD05-90A54A5A6E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KJUGTYUNHUJHUJ</a:t>
            </a:r>
          </a:p>
        </p:txBody>
      </p:sp>
      <p:sp>
        <p:nvSpPr>
          <p:cNvPr id="5" name="Slide Number Placeholder 4">
            <a:extLst>
              <a:ext uri="{FF2B5EF4-FFF2-40B4-BE49-F238E27FC236}">
                <a16:creationId xmlns:a16="http://schemas.microsoft.com/office/drawing/2014/main" id="{0C62B8BF-5B9A-1929-AA9D-F6E7A3EF10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8CB73F-A52F-4371-B083-BD6A960B3DCF}" type="slidenum">
              <a:rPr lang="en-IN" smtClean="0"/>
              <a:t>‹#›</a:t>
            </a:fld>
            <a:endParaRPr lang="en-IN"/>
          </a:p>
        </p:txBody>
      </p:sp>
    </p:spTree>
    <p:extLst>
      <p:ext uri="{BB962C8B-B14F-4D97-AF65-F5344CB8AC3E}">
        <p14:creationId xmlns:p14="http://schemas.microsoft.com/office/powerpoint/2010/main" val="2874617332"/>
      </p:ext>
    </p:extLst>
  </p:cSld>
  <p:clrMap bg1="lt1" tx1="dk1" bg2="lt2" tx2="dk2" accent1="accent1" accent2="accent2" accent3="accent3" accent4="accent4" accent5="accent5" accent6="accent6" hlink="hlink" folHlink="folHlink"/>
  <p:hf sldNum="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0" name="Shape 100"/>
          <p:cNvSpPr>
            <a:spLocks noGrp="1" noRot="1" noChangeAspect="1"/>
          </p:cNvSpPr>
          <p:nvPr>
            <p:ph type="sldImg"/>
          </p:nvPr>
        </p:nvSpPr>
        <p:spPr>
          <a:xfrm>
            <a:off x="1143000" y="685800"/>
            <a:ext cx="4572000" cy="3429000"/>
          </a:xfrm>
          <a:prstGeom prst="rect">
            <a:avLst/>
          </a:prstGeom>
        </p:spPr>
        <p:txBody>
          <a:bodyPr/>
          <a:lstStyle/>
          <a:p>
            <a:endParaRPr/>
          </a:p>
        </p:txBody>
      </p:sp>
      <p:sp>
        <p:nvSpPr>
          <p:cNvPr id="101" name="Shape 10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dt="0"/>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524000" y="1122362"/>
            <a:ext cx="9144000" cy="2387601"/>
          </a:xfrm>
          <a:prstGeom prst="rect">
            <a:avLst/>
          </a:prstGeom>
        </p:spPr>
        <p:txBody>
          <a:bodyPr anchor="b"/>
          <a:lstStyle>
            <a:lvl1pPr algn="ctr">
              <a:defRPr sz="6000"/>
            </a:lvl1pPr>
          </a:lstStyle>
          <a:p>
            <a:r>
              <a:t>Title Text</a:t>
            </a:r>
          </a:p>
        </p:txBody>
      </p:sp>
      <p:sp>
        <p:nvSpPr>
          <p:cNvPr id="12" name="Body Level One…"/>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Body Level One…"/>
          <p:cNvSpPr txBox="1">
            <a:spLocks noGrp="1"/>
          </p:cNvSpPr>
          <p:nvPr>
            <p:ph type="body" sz="half" idx="1"/>
          </p:nvPr>
        </p:nvSpPr>
        <p:spPr>
          <a:xfrm>
            <a:off x="838200" y="1825625"/>
            <a:ext cx="5181600"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8" name="Body Level One…"/>
          <p:cNvSpPr txBox="1">
            <a:spLocks noGrp="1"/>
          </p:cNvSpPr>
          <p:nvPr>
            <p:ph type="body" sz="quarter" idx="1"/>
          </p:nvPr>
        </p:nvSpPr>
        <p:spPr>
          <a:xfrm>
            <a:off x="839787" y="1681163"/>
            <a:ext cx="5157789" cy="823913"/>
          </a:xfrm>
          <a:prstGeom prst="rect">
            <a:avLst/>
          </a:prstGeom>
        </p:spPr>
        <p:txBody>
          <a:bodyPr anchor="b"/>
          <a:lstStyle>
            <a:lvl1pPr marL="0" indent="0">
              <a:buSzTx/>
              <a:buFontTx/>
              <a:buNone/>
              <a:defRPr sz="2400" b="1"/>
            </a:lvl1pPr>
            <a:lvl2pPr marL="0" indent="457200">
              <a:buSzTx/>
              <a:buFontTx/>
              <a:buNone/>
              <a:defRPr sz="2400" b="1"/>
            </a:lvl2pPr>
            <a:lvl3pPr marL="0" indent="914400">
              <a:buSzTx/>
              <a:buFontTx/>
              <a:buNone/>
              <a:defRPr sz="2400" b="1"/>
            </a:lvl3pPr>
            <a:lvl4pPr marL="0" indent="1371600">
              <a:buSzTx/>
              <a:buFontTx/>
              <a:buNone/>
              <a:defRPr sz="2400" b="1"/>
            </a:lvl4pPr>
            <a:lvl5pPr marL="0" indent="1828800">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21"/>
          </p:nvPr>
        </p:nvSpPr>
        <p:spPr>
          <a:xfrm>
            <a:off x="6172200" y="1681163"/>
            <a:ext cx="5183188" cy="823913"/>
          </a:xfrm>
          <a:prstGeom prst="rect">
            <a:avLst/>
          </a:prstGeom>
        </p:spPr>
        <p:txBody>
          <a:bodyPr anchor="b"/>
          <a:lstStyle/>
          <a:p>
            <a:pPr marL="0" indent="0">
              <a:buSzTx/>
              <a:buFontTx/>
              <a:buNone/>
              <a:defRPr sz="2400" b="1"/>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7" name="Title Text"/>
          <p:cNvSpPr txBox="1">
            <a:spLocks noGrp="1"/>
          </p:cNvSpPr>
          <p:nvPr>
            <p:ph type="title"/>
          </p:nvPr>
        </p:nvSpPr>
        <p:spPr>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73" name="Body Level One…"/>
          <p:cNvSpPr txBox="1">
            <a:spLocks noGrp="1"/>
          </p:cNvSpPr>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21"/>
          </p:nvPr>
        </p:nvSpPr>
        <p:spPr>
          <a:xfrm>
            <a:off x="839787" y="2057400"/>
            <a:ext cx="3932238" cy="3811588"/>
          </a:xfrm>
          <a:prstGeom prst="rect">
            <a:avLst/>
          </a:prstGeom>
        </p:spPr>
        <p:txBody>
          <a:bodyPr/>
          <a:lstStyle/>
          <a:p>
            <a:pPr marL="0" indent="0">
              <a:buSzTx/>
              <a:buFontTx/>
              <a:buNone/>
              <a:defRPr sz="16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2" name="Title Text"/>
          <p:cNvSpPr txBox="1">
            <a:spLocks noGrp="1"/>
          </p:cNvSpPr>
          <p:nvPr>
            <p:ph type="title"/>
          </p:nvPr>
        </p:nvSpPr>
        <p:spPr>
          <a:xfrm>
            <a:off x="839787" y="457200"/>
            <a:ext cx="3932239" cy="1600200"/>
          </a:xfrm>
          <a:prstGeom prst="rect">
            <a:avLst/>
          </a:prstGeom>
        </p:spPr>
        <p:txBody>
          <a:bodyPr anchor="b"/>
          <a:lstStyle>
            <a:lvl1pPr>
              <a:defRPr sz="3200"/>
            </a:lvl1pPr>
          </a:lstStyle>
          <a:p>
            <a:r>
              <a:t>Title Text</a:t>
            </a:r>
          </a:p>
        </p:txBody>
      </p:sp>
      <p:sp>
        <p:nvSpPr>
          <p:cNvPr id="83" name="Picture Placeholder 2"/>
          <p:cNvSpPr>
            <a:spLocks noGrp="1"/>
          </p:cNvSpPr>
          <p:nvPr>
            <p:ph type="pic" sz="half" idx="21"/>
          </p:nvPr>
        </p:nvSpPr>
        <p:spPr>
          <a:xfrm>
            <a:off x="5183187" y="987425"/>
            <a:ext cx="6172201" cy="4873625"/>
          </a:xfrm>
          <a:prstGeom prst="rect">
            <a:avLst/>
          </a:prstGeom>
        </p:spPr>
        <p:txBody>
          <a:bodyPr lIns="91439" rIns="91439">
            <a:noAutofit/>
          </a:bodyPr>
          <a:lstStyle/>
          <a:p>
            <a:endParaRPr/>
          </a:p>
        </p:txBody>
      </p:sp>
      <p:sp>
        <p:nvSpPr>
          <p:cNvPr id="84" name="Body Level One…"/>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92" name="Title Text"/>
          <p:cNvSpPr txBox="1">
            <a:spLocks noGrp="1"/>
          </p:cNvSpPr>
          <p:nvPr>
            <p:ph type="title"/>
          </p:nvPr>
        </p:nvSpPr>
        <p:spPr>
          <a:xfrm>
            <a:off x="1981200" y="274638"/>
            <a:ext cx="8229600" cy="1143001"/>
          </a:xfrm>
          <a:prstGeom prst="rect">
            <a:avLst/>
          </a:prstGeom>
        </p:spPr>
        <p:txBody>
          <a:bodyPr/>
          <a:lstStyle>
            <a:lvl1pPr algn="ctr">
              <a:lnSpc>
                <a:spcPct val="100000"/>
              </a:lnSpc>
              <a:defRPr>
                <a:latin typeface="+mj-lt"/>
                <a:ea typeface="+mj-ea"/>
                <a:cs typeface="+mj-cs"/>
                <a:sym typeface="Calibri"/>
              </a:defRPr>
            </a:lvl1pPr>
          </a:lstStyle>
          <a:p>
            <a:r>
              <a:t>Title Text</a:t>
            </a:r>
          </a:p>
        </p:txBody>
      </p:sp>
      <p:sp>
        <p:nvSpPr>
          <p:cNvPr id="93" name="Body Level One…"/>
          <p:cNvSpPr txBox="1">
            <a:spLocks noGrp="1"/>
          </p:cNvSpPr>
          <p:nvPr>
            <p:ph type="body" idx="1"/>
          </p:nvPr>
        </p:nvSpPr>
        <p:spPr>
          <a:xfrm>
            <a:off x="1981200" y="1600200"/>
            <a:ext cx="8229600" cy="4525963"/>
          </a:xfrm>
          <a:prstGeom prst="rect">
            <a:avLst/>
          </a:prstGeom>
        </p:spPr>
        <p:txBody>
          <a:bodyPr/>
          <a:lstStyle>
            <a:lvl1pPr marL="342900" indent="-342900">
              <a:lnSpc>
                <a:spcPct val="100000"/>
              </a:lnSpc>
              <a:spcBef>
                <a:spcPts val="700"/>
              </a:spcBef>
              <a:defRPr sz="3200"/>
            </a:lvl1pPr>
            <a:lvl2pPr marL="783771" indent="-326571">
              <a:lnSpc>
                <a:spcPct val="100000"/>
              </a:lnSpc>
              <a:spcBef>
                <a:spcPts val="700"/>
              </a:spcBef>
              <a:buChar char="–"/>
              <a:defRPr sz="3200"/>
            </a:lvl2pPr>
            <a:lvl3pPr marL="1219200" indent="-304800">
              <a:lnSpc>
                <a:spcPct val="100000"/>
              </a:lnSpc>
              <a:spcBef>
                <a:spcPts val="700"/>
              </a:spcBef>
              <a:defRPr sz="3200"/>
            </a:lvl3pPr>
            <a:lvl4pPr marL="1737360" indent="-365760">
              <a:lnSpc>
                <a:spcPct val="100000"/>
              </a:lnSpc>
              <a:spcBef>
                <a:spcPts val="700"/>
              </a:spcBef>
              <a:buChar char="–"/>
              <a:defRPr sz="3200"/>
            </a:lvl4pPr>
            <a:lvl5pPr marL="2194560" indent="-365760">
              <a:lnSpc>
                <a:spcPct val="100000"/>
              </a:lnSpc>
              <a:spcBef>
                <a:spcPts val="700"/>
              </a:spcBef>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xfrm>
            <a:off x="9952176" y="6414760"/>
            <a:ext cx="258624" cy="248305"/>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med"/>
  <p:hf sldNum="0" hdr="0"/>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Title 1"/>
          <p:cNvSpPr txBox="1">
            <a:spLocks noGrp="1"/>
          </p:cNvSpPr>
          <p:nvPr>
            <p:ph type="ctrTitle"/>
          </p:nvPr>
        </p:nvSpPr>
        <p:spPr>
          <a:xfrm>
            <a:off x="447040" y="2254525"/>
            <a:ext cx="11450320" cy="1212739"/>
          </a:xfrm>
          <a:prstGeom prst="rect">
            <a:avLst/>
          </a:prstGeom>
        </p:spPr>
        <p:txBody>
          <a:bodyPr>
            <a:normAutofit/>
          </a:bodyPr>
          <a:lstStyle>
            <a:lvl1pPr defTabSz="896111">
              <a:defRPr sz="2744" b="1">
                <a:latin typeface="Times New Roman"/>
                <a:ea typeface="Times New Roman"/>
                <a:cs typeface="Times New Roman"/>
                <a:sym typeface="Times New Roman"/>
              </a:defRPr>
            </a:lvl1pPr>
          </a:lstStyle>
          <a:p>
            <a:r>
              <a:rPr lang="en-US" sz="2800">
                <a:latin typeface="Times New Roman" panose="02020603050405020304" pitchFamily="18" charset="0"/>
                <a:cs typeface="Times New Roman" panose="02020603050405020304" pitchFamily="18" charset="0"/>
              </a:rPr>
              <a:t>Automated Stroke Risk Prediction Using Balanced Machine Learning Models</a:t>
            </a:r>
            <a:endParaRPr sz="3200"/>
          </a:p>
        </p:txBody>
      </p:sp>
      <p:sp>
        <p:nvSpPr>
          <p:cNvPr id="104" name="Subtitle 2"/>
          <p:cNvSpPr txBox="1">
            <a:spLocks noGrp="1"/>
          </p:cNvSpPr>
          <p:nvPr>
            <p:ph type="subTitle" sz="quarter" idx="1"/>
          </p:nvPr>
        </p:nvSpPr>
        <p:spPr>
          <a:xfrm>
            <a:off x="1394539" y="3634575"/>
            <a:ext cx="9673885" cy="1655762"/>
          </a:xfrm>
          <a:prstGeom prst="rect">
            <a:avLst/>
          </a:prstGeom>
        </p:spPr>
        <p:txBody>
          <a:bodyPr>
            <a:normAutofit/>
          </a:bodyPr>
          <a:lstStyle/>
          <a:p>
            <a:pPr>
              <a:lnSpc>
                <a:spcPct val="72000"/>
              </a:lnSpc>
              <a:defRPr sz="1600">
                <a:latin typeface="Times New Roman"/>
                <a:ea typeface="Times New Roman"/>
                <a:cs typeface="Times New Roman"/>
                <a:sym typeface="Times New Roman"/>
              </a:defRPr>
            </a:pPr>
            <a:r>
              <a:rPr dirty="0"/>
              <a:t>Under the Guidance of </a:t>
            </a:r>
          </a:p>
          <a:p>
            <a:pPr>
              <a:lnSpc>
                <a:spcPct val="72000"/>
              </a:lnSpc>
              <a:defRPr sz="2000" b="1">
                <a:latin typeface="Times New Roman"/>
                <a:ea typeface="Times New Roman"/>
                <a:cs typeface="Times New Roman"/>
                <a:sym typeface="Times New Roman"/>
              </a:defRPr>
            </a:pPr>
            <a:r>
              <a:rPr lang="en-US" dirty="0">
                <a:latin typeface="Times New Roman"/>
                <a:ea typeface="Times New Roman"/>
                <a:cs typeface="Times New Roman"/>
                <a:sym typeface="Times New Roman"/>
              </a:rPr>
              <a:t>DR. K. SAMPATH</a:t>
            </a:r>
            <a:endParaRPr dirty="0"/>
          </a:p>
          <a:p>
            <a:pPr>
              <a:lnSpc>
                <a:spcPct val="72000"/>
              </a:lnSpc>
              <a:defRPr sz="1800">
                <a:latin typeface="Times New Roman"/>
                <a:ea typeface="Times New Roman"/>
                <a:cs typeface="Times New Roman"/>
                <a:sym typeface="Times New Roman"/>
              </a:defRPr>
            </a:pPr>
            <a:r>
              <a:rPr dirty="0"/>
              <a:t>Associate Professor</a:t>
            </a:r>
            <a:endParaRPr sz="1600" dirty="0"/>
          </a:p>
          <a:p>
            <a:pPr>
              <a:lnSpc>
                <a:spcPct val="72000"/>
              </a:lnSpc>
              <a:defRPr sz="2100">
                <a:latin typeface="Times New Roman"/>
                <a:ea typeface="Times New Roman"/>
                <a:cs typeface="Times New Roman"/>
                <a:sym typeface="Times New Roman"/>
              </a:defRPr>
            </a:pPr>
            <a:r>
              <a:rPr dirty="0"/>
              <a:t>Department of Computer Science and Engineering (AI&amp;ML)</a:t>
            </a:r>
          </a:p>
        </p:txBody>
      </p:sp>
      <p:pic>
        <p:nvPicPr>
          <p:cNvPr id="105" name="Picture 2" descr="Picture 2"/>
          <p:cNvPicPr>
            <a:picLocks noChangeAspect="1"/>
          </p:cNvPicPr>
          <p:nvPr/>
        </p:nvPicPr>
        <p:blipFill>
          <a:blip r:embed="rId2"/>
          <a:stretch>
            <a:fillRect/>
          </a:stretch>
        </p:blipFill>
        <p:spPr>
          <a:xfrm>
            <a:off x="2224864" y="56626"/>
            <a:ext cx="8149862" cy="1238323"/>
          </a:xfrm>
          <a:prstGeom prst="rect">
            <a:avLst/>
          </a:prstGeom>
          <a:ln w="12700">
            <a:miter lim="400000"/>
          </a:ln>
        </p:spPr>
      </p:pic>
      <p:pic>
        <p:nvPicPr>
          <p:cNvPr id="106" name="Picture 4" descr="Picture 4"/>
          <p:cNvPicPr>
            <a:picLocks noChangeAspect="1"/>
          </p:cNvPicPr>
          <p:nvPr/>
        </p:nvPicPr>
        <p:blipFill>
          <a:blip r:embed="rId3"/>
          <a:stretch>
            <a:fillRect/>
          </a:stretch>
        </p:blipFill>
        <p:spPr>
          <a:xfrm>
            <a:off x="0" y="97058"/>
            <a:ext cx="1394539" cy="1069147"/>
          </a:xfrm>
          <a:prstGeom prst="rect">
            <a:avLst/>
          </a:prstGeom>
          <a:ln w="12700">
            <a:miter lim="400000"/>
          </a:ln>
        </p:spPr>
      </p:pic>
      <p:sp>
        <p:nvSpPr>
          <p:cNvPr id="107" name="TextBox 3"/>
          <p:cNvSpPr txBox="1"/>
          <p:nvPr/>
        </p:nvSpPr>
        <p:spPr>
          <a:xfrm>
            <a:off x="8696959" y="5275383"/>
            <a:ext cx="3355535" cy="13849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defRPr sz="2400" b="1">
                <a:latin typeface="Times New Roman"/>
                <a:ea typeface="Times New Roman"/>
                <a:cs typeface="Times New Roman"/>
                <a:sym typeface="Times New Roman"/>
              </a:defRPr>
            </a:pPr>
            <a:r>
              <a:t>Presented By</a:t>
            </a:r>
          </a:p>
          <a:p>
            <a:pPr>
              <a:defRPr sz="2000">
                <a:latin typeface="Times New Roman"/>
                <a:ea typeface="Times New Roman"/>
                <a:cs typeface="Times New Roman"/>
                <a:sym typeface="Times New Roman"/>
              </a:defRPr>
            </a:pPr>
            <a:r>
              <a:t>22R01A</a:t>
            </a:r>
            <a:r>
              <a:rPr lang="en-IN"/>
              <a:t>6679 – E.SRUTHI</a:t>
            </a:r>
            <a:endParaRPr/>
          </a:p>
          <a:p>
            <a:pPr>
              <a:defRPr sz="2000">
                <a:latin typeface="Times New Roman"/>
                <a:ea typeface="Times New Roman"/>
                <a:cs typeface="Times New Roman"/>
                <a:sym typeface="Times New Roman"/>
              </a:defRPr>
            </a:pPr>
            <a:r>
              <a:t>22R01A</a:t>
            </a:r>
            <a:r>
              <a:rPr lang="en-IN"/>
              <a:t>6688 – J.SHARANYA</a:t>
            </a:r>
          </a:p>
          <a:p>
            <a:pPr>
              <a:defRPr sz="2000">
                <a:latin typeface="Times New Roman"/>
                <a:ea typeface="Times New Roman"/>
                <a:cs typeface="Times New Roman"/>
                <a:sym typeface="Times New Roman"/>
              </a:defRPr>
            </a:pPr>
            <a:r>
              <a:t>22R01A</a:t>
            </a:r>
            <a:r>
              <a:rPr lang="en-IN"/>
              <a:t>66C2 – T.RASHMIKA</a:t>
            </a:r>
            <a:endParaRPr/>
          </a:p>
        </p:txBody>
      </p:sp>
      <p:sp>
        <p:nvSpPr>
          <p:cNvPr id="108" name="Title 1"/>
          <p:cNvSpPr txBox="1"/>
          <p:nvPr/>
        </p:nvSpPr>
        <p:spPr>
          <a:xfrm>
            <a:off x="1328173" y="1294949"/>
            <a:ext cx="9884898" cy="8330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lvl1pPr algn="ctr">
              <a:lnSpc>
                <a:spcPct val="90000"/>
              </a:lnSpc>
              <a:defRPr sz="2300" b="1">
                <a:latin typeface="Times New Roman"/>
                <a:ea typeface="Times New Roman"/>
                <a:cs typeface="Times New Roman"/>
                <a:sym typeface="Times New Roman"/>
              </a:defRPr>
            </a:lvl1pPr>
          </a:lstStyle>
          <a:p>
            <a:r>
              <a:rPr sz="2400"/>
              <a:t>DEPARTMENT OF</a:t>
            </a:r>
            <a:r>
              <a:rPr lang="en-IN" sz="2400"/>
              <a:t> </a:t>
            </a:r>
            <a:r>
              <a:rPr sz="2400"/>
              <a:t>A</a:t>
            </a:r>
            <a:r>
              <a:rPr lang="en-IN" sz="2400"/>
              <a:t>RTIFICIAL INTELLEGENCE AND </a:t>
            </a:r>
          </a:p>
          <a:p>
            <a:r>
              <a:rPr sz="2400"/>
              <a:t>M</a:t>
            </a:r>
            <a:r>
              <a:rPr lang="en-IN" sz="2400"/>
              <a:t>ACHINE </a:t>
            </a:r>
            <a:r>
              <a:rPr sz="2400"/>
              <a:t>L</a:t>
            </a:r>
            <a:r>
              <a:rPr lang="en-IN" sz="2400"/>
              <a:t>EARNING</a:t>
            </a:r>
            <a:endParaRPr sz="240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ABSTRACT"/>
          <p:cNvSpPr txBox="1">
            <a:spLocks noGrp="1"/>
          </p:cNvSpPr>
          <p:nvPr>
            <p:ph type="title"/>
          </p:nvPr>
        </p:nvSpPr>
        <p:spPr>
          <a:xfrm>
            <a:off x="838200" y="227621"/>
            <a:ext cx="10515600" cy="453416"/>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r>
              <a:rPr lang="en-IN" b="1"/>
              <a:t>AGENDA</a:t>
            </a:r>
            <a:endParaRPr b="1"/>
          </a:p>
        </p:txBody>
      </p:sp>
      <p:sp>
        <p:nvSpPr>
          <p:cNvPr id="111" name="Medical coding is an essential yet predominantly manual process, contributing to substantial inefficiencies and errors in healthcare systems.…"/>
          <p:cNvSpPr txBox="1">
            <a:spLocks noGrp="1"/>
          </p:cNvSpPr>
          <p:nvPr>
            <p:ph type="body" idx="1"/>
          </p:nvPr>
        </p:nvSpPr>
        <p:spPr>
          <a:xfrm>
            <a:off x="499143" y="1412874"/>
            <a:ext cx="11877040" cy="4896802"/>
          </a:xfrm>
          <a:prstGeom prst="rect">
            <a:avLst/>
          </a:prstGeom>
        </p:spPr>
        <p:txBody>
          <a:bodyPr>
            <a:normAutofit fontScale="92500" lnSpcReduction="20000"/>
          </a:bodyPr>
          <a:lstStyle/>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Abstract</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Literature Review</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Problem Statement</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Objective</a:t>
            </a:r>
          </a:p>
          <a:p>
            <a:pPr marL="0" indent="0" algn="just" eaLnBrk="0" fontAlgn="base" hangingPunct="0">
              <a:lnSpc>
                <a:spcPct val="110000"/>
              </a:lnSpc>
              <a:spcBef>
                <a:spcPct val="0"/>
              </a:spcBef>
              <a:spcAft>
                <a:spcPct val="0"/>
              </a:spcAft>
              <a:buFontTx/>
              <a:buChar char="•"/>
            </a:pPr>
            <a:r>
              <a:rPr lang="en-US" sz="2600" dirty="0">
                <a:latin typeface="Times New Roman" panose="02020603050405020304" pitchFamily="18" charset="0"/>
                <a:cs typeface="Times New Roman" panose="02020603050405020304" pitchFamily="18" charset="0"/>
              </a:rPr>
              <a:t> Existing system</a:t>
            </a:r>
          </a:p>
          <a:p>
            <a:pPr marL="0" indent="0" algn="just" eaLnBrk="0" fontAlgn="base" hangingPunct="0">
              <a:lnSpc>
                <a:spcPct val="110000"/>
              </a:lnSpc>
              <a:spcBef>
                <a:spcPct val="0"/>
              </a:spcBef>
              <a:spcAft>
                <a:spcPct val="0"/>
              </a:spcAft>
              <a:buFontTx/>
              <a:buChar char="•"/>
            </a:pPr>
            <a:r>
              <a:rPr lang="en-US" sz="2600" dirty="0">
                <a:latin typeface="Times New Roman" panose="02020603050405020304" pitchFamily="18" charset="0"/>
                <a:cs typeface="Times New Roman" panose="02020603050405020304" pitchFamily="18" charset="0"/>
              </a:rPr>
              <a:t> Disadvantages</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Proposed System</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Algorithms</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Requirement Specifications</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System design</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Implementation</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Results and Discussion</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Societal Needs</a:t>
            </a:r>
          </a:p>
          <a:p>
            <a:pPr marL="0" indent="0" algn="just" eaLnBrk="0" fontAlgn="base" hangingPunct="0">
              <a:lnSpc>
                <a:spcPct val="110000"/>
              </a:lnSpc>
              <a:spcBef>
                <a:spcPct val="0"/>
              </a:spcBef>
              <a:spcAft>
                <a:spcPct val="0"/>
              </a:spcAft>
              <a:buFontTx/>
              <a:buChar char="•"/>
            </a:pPr>
            <a:r>
              <a:rPr lang="en-IN" sz="2600" dirty="0">
                <a:latin typeface="Times New Roman" panose="02020603050405020304" pitchFamily="18" charset="0"/>
                <a:cs typeface="Times New Roman" panose="02020603050405020304" pitchFamily="18" charset="0"/>
              </a:rPr>
              <a:t> References</a:t>
            </a:r>
          </a:p>
          <a:p>
            <a:pPr marL="0" indent="0" algn="just" eaLnBrk="0" fontAlgn="base" hangingPunct="0">
              <a:lnSpc>
                <a:spcPct val="100000"/>
              </a:lnSpc>
              <a:spcBef>
                <a:spcPct val="0"/>
              </a:spcBef>
              <a:spcAft>
                <a:spcPct val="0"/>
              </a:spcAft>
              <a:buFontTx/>
              <a:buChar char="•"/>
            </a:pPr>
            <a:endParaRPr dirty="0">
              <a:latin typeface="Times New Roman" panose="02020603050405020304" pitchFamily="18" charset="0"/>
              <a:cs typeface="Times New Roman" panose="02020603050405020304" pitchFamily="18" charset="0"/>
            </a:endParaRPr>
          </a:p>
        </p:txBody>
      </p:sp>
      <p:pic>
        <p:nvPicPr>
          <p:cNvPr id="112" name="Picture 3" descr="Picture 3"/>
          <p:cNvPicPr>
            <a:picLocks noChangeAspect="1"/>
          </p:cNvPicPr>
          <p:nvPr/>
        </p:nvPicPr>
        <p:blipFill>
          <a:blip r:embed="rId2"/>
          <a:stretch>
            <a:fillRect/>
          </a:stretch>
        </p:blipFill>
        <p:spPr>
          <a:xfrm>
            <a:off x="1" y="0"/>
            <a:ext cx="998284" cy="792477"/>
          </a:xfrm>
          <a:prstGeom prst="rect">
            <a:avLst/>
          </a:prstGeom>
          <a:ln w="12700">
            <a:miter lim="400000"/>
          </a:ln>
        </p:spPr>
      </p:pic>
      <p:cxnSp>
        <p:nvCxnSpPr>
          <p:cNvPr id="3" name="Straight Connector 2">
            <a:extLst>
              <a:ext uri="{FF2B5EF4-FFF2-40B4-BE49-F238E27FC236}">
                <a16:creationId xmlns:a16="http://schemas.microsoft.com/office/drawing/2014/main" id="{834E7E68-CE9E-7526-B6AD-310DAD669F29}"/>
              </a:ext>
            </a:extLst>
          </p:cNvPr>
          <p:cNvCxnSpPr/>
          <p:nvPr/>
        </p:nvCxnSpPr>
        <p:spPr>
          <a:xfrm>
            <a:off x="0" y="8432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C3BDC118-BD7C-7FD1-2C51-E1D5C86190C0}"/>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C7BC8B98-FDA7-B056-EA24-F52D5378F266}"/>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kumimoji="0" lang="en-IN" sz="1400" b="0" i="0" u="none" strike="noStrike" cap="none" spc="0" normalizeH="0" baseline="0">
              <a:ln>
                <a:noFill/>
              </a:ln>
              <a:solidFill>
                <a:srgbClr val="000000"/>
              </a:solidFill>
              <a:effectLst/>
              <a:uFillTx/>
              <a:latin typeface="+mj-lt"/>
              <a:ea typeface="+mj-ea"/>
              <a:cs typeface="+mj-cs"/>
              <a:sym typeface="Calibri"/>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7A0AE-9D57-AAD1-B690-3C372A668271}"/>
            </a:ext>
          </a:extLst>
        </p:cNvPr>
        <p:cNvGrpSpPr/>
        <p:nvPr/>
      </p:nvGrpSpPr>
      <p:grpSpPr>
        <a:xfrm>
          <a:off x="0" y="0"/>
          <a:ext cx="0" cy="0"/>
          <a:chOff x="0" y="0"/>
          <a:chExt cx="0" cy="0"/>
        </a:xfrm>
      </p:grpSpPr>
      <p:sp>
        <p:nvSpPr>
          <p:cNvPr id="110" name="ABSTRACT">
            <a:extLst>
              <a:ext uri="{FF2B5EF4-FFF2-40B4-BE49-F238E27FC236}">
                <a16:creationId xmlns:a16="http://schemas.microsoft.com/office/drawing/2014/main" id="{F74A484B-4111-7AC2-642B-A342F285B2D1}"/>
              </a:ext>
            </a:extLst>
          </p:cNvPr>
          <p:cNvSpPr txBox="1">
            <a:spLocks noGrp="1"/>
          </p:cNvSpPr>
          <p:nvPr>
            <p:ph type="title"/>
          </p:nvPr>
        </p:nvSpPr>
        <p:spPr>
          <a:xfrm>
            <a:off x="838200" y="227621"/>
            <a:ext cx="10515600" cy="453416"/>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r>
              <a:rPr b="1"/>
              <a:t>ABSTRACT</a:t>
            </a:r>
          </a:p>
        </p:txBody>
      </p:sp>
      <p:sp>
        <p:nvSpPr>
          <p:cNvPr id="111" name="Medical coding is an essential yet predominantly manual process, contributing to substantial inefficiencies and errors in healthcare systems.…">
            <a:extLst>
              <a:ext uri="{FF2B5EF4-FFF2-40B4-BE49-F238E27FC236}">
                <a16:creationId xmlns:a16="http://schemas.microsoft.com/office/drawing/2014/main" id="{FB25DD6E-0A83-90AC-1B18-C5EA51C1815A}"/>
              </a:ext>
            </a:extLst>
          </p:cNvPr>
          <p:cNvSpPr txBox="1">
            <a:spLocks noGrp="1"/>
          </p:cNvSpPr>
          <p:nvPr>
            <p:ph type="body" idx="1"/>
          </p:nvPr>
        </p:nvSpPr>
        <p:spPr>
          <a:xfrm>
            <a:off x="213360" y="3717959"/>
            <a:ext cx="11755120" cy="2459004"/>
          </a:xfrm>
          <a:prstGeom prst="rect">
            <a:avLst/>
          </a:prstGeom>
        </p:spPr>
        <p:txBody>
          <a:bodyPr/>
          <a:lstStyle/>
          <a:p>
            <a:pPr marL="0" indent="0" algn="just" eaLnBrk="0" fontAlgn="base" hangingPunct="0">
              <a:lnSpc>
                <a:spcPct val="100000"/>
              </a:lnSpc>
              <a:spcBef>
                <a:spcPct val="0"/>
              </a:spcBef>
              <a:spcAft>
                <a:spcPct val="0"/>
              </a:spcAft>
              <a:buNone/>
            </a:pPr>
            <a:r>
              <a:rPr lang="en-GB" dirty="0">
                <a:latin typeface="Times New Roman"/>
                <a:ea typeface="Times New Roman"/>
                <a:cs typeface="Times New Roman"/>
                <a:sym typeface="Times New Roman"/>
              </a:rPr>
              <a:t> </a:t>
            </a:r>
          </a:p>
          <a:p>
            <a:pPr marL="0" indent="0" algn="just" eaLnBrk="0" fontAlgn="base" hangingPunct="0">
              <a:lnSpc>
                <a:spcPct val="100000"/>
              </a:lnSpc>
              <a:spcBef>
                <a:spcPct val="0"/>
              </a:spcBef>
              <a:spcAft>
                <a:spcPct val="0"/>
              </a:spcAft>
              <a:buNone/>
            </a:pPr>
            <a:endParaRPr lang="en-GB" dirty="0">
              <a:latin typeface="Times New Roman"/>
              <a:ea typeface="Times New Roman"/>
              <a:cs typeface="Times New Roman"/>
              <a:sym typeface="Times New Roman"/>
            </a:endParaRPr>
          </a:p>
          <a:p>
            <a:pPr marL="0" indent="0" algn="just" eaLnBrk="0" fontAlgn="base" hangingPunct="0">
              <a:lnSpc>
                <a:spcPct val="100000"/>
              </a:lnSpc>
              <a:spcBef>
                <a:spcPct val="0"/>
              </a:spcBef>
              <a:spcAft>
                <a:spcPct val="0"/>
              </a:spcAft>
              <a:buNone/>
            </a:pPr>
            <a:endParaRPr lang="en-GB" dirty="0">
              <a:latin typeface="Times New Roman"/>
              <a:ea typeface="Times New Roman"/>
              <a:cs typeface="Times New Roman"/>
              <a:sym typeface="Times New Roman"/>
            </a:endParaRPr>
          </a:p>
          <a:p>
            <a:pPr marL="0" indent="0" algn="just" eaLnBrk="0" fontAlgn="base" hangingPunct="0">
              <a:lnSpc>
                <a:spcPct val="100000"/>
              </a:lnSpc>
              <a:spcBef>
                <a:spcPct val="0"/>
              </a:spcBef>
              <a:spcAft>
                <a:spcPct val="0"/>
              </a:spcAft>
              <a:buNone/>
            </a:pPr>
            <a:endParaRPr dirty="0">
              <a:latin typeface="Times New Roman" panose="02020603050405020304" pitchFamily="18" charset="0"/>
              <a:cs typeface="Times New Roman" panose="02020603050405020304" pitchFamily="18" charset="0"/>
            </a:endParaRPr>
          </a:p>
        </p:txBody>
      </p:sp>
      <p:pic>
        <p:nvPicPr>
          <p:cNvPr id="112" name="Picture 3" descr="Picture 3">
            <a:extLst>
              <a:ext uri="{FF2B5EF4-FFF2-40B4-BE49-F238E27FC236}">
                <a16:creationId xmlns:a16="http://schemas.microsoft.com/office/drawing/2014/main" id="{AFBABFBD-1C18-7767-03D0-6DEDFCF65F19}"/>
              </a:ext>
            </a:extLst>
          </p:cNvPr>
          <p:cNvPicPr>
            <a:picLocks noChangeAspect="1"/>
          </p:cNvPicPr>
          <p:nvPr/>
        </p:nvPicPr>
        <p:blipFill>
          <a:blip r:embed="rId2"/>
          <a:stretch>
            <a:fillRect/>
          </a:stretch>
        </p:blipFill>
        <p:spPr>
          <a:xfrm>
            <a:off x="1" y="0"/>
            <a:ext cx="956360" cy="843269"/>
          </a:xfrm>
          <a:prstGeom prst="rect">
            <a:avLst/>
          </a:prstGeom>
          <a:ln w="12700">
            <a:miter lim="400000"/>
          </a:ln>
        </p:spPr>
      </p:pic>
      <p:cxnSp>
        <p:nvCxnSpPr>
          <p:cNvPr id="3" name="Straight Connector 2">
            <a:extLst>
              <a:ext uri="{FF2B5EF4-FFF2-40B4-BE49-F238E27FC236}">
                <a16:creationId xmlns:a16="http://schemas.microsoft.com/office/drawing/2014/main" id="{C717BE0E-692E-1FA9-84C8-568BBB5ED0FF}"/>
              </a:ext>
            </a:extLst>
          </p:cNvPr>
          <p:cNvCxnSpPr/>
          <p:nvPr/>
        </p:nvCxnSpPr>
        <p:spPr>
          <a:xfrm>
            <a:off x="0" y="8432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336455B5-90E5-B939-1FAE-9E2B2738060F}"/>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5D4653D0-55B9-F850-CC7E-DEB143A49448}"/>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8" name="Rectangle 5">
            <a:extLst>
              <a:ext uri="{FF2B5EF4-FFF2-40B4-BE49-F238E27FC236}">
                <a16:creationId xmlns:a16="http://schemas.microsoft.com/office/drawing/2014/main" id="{36CD3BAB-B25A-6B44-DBE6-104494FACCD2}"/>
              </a:ext>
            </a:extLst>
          </p:cNvPr>
          <p:cNvSpPr>
            <a:spLocks noChangeArrowheads="1"/>
          </p:cNvSpPr>
          <p:nvPr/>
        </p:nvSpPr>
        <p:spPr bwMode="auto">
          <a:xfrm>
            <a:off x="414430" y="1728560"/>
            <a:ext cx="1114978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Stroke is a serious medical condition caused by interruption of blood flow to the brain, leading to disability or death .Early prediction of stroke risk helps doctors take preventive treatment and save lives .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work uses Machine Learning algorithms to predict whether a person may get a stroke or not . The dataset is preprocessed and balanced to improve prediction accuracy . The proposed system improves reliability and helps doctors make better medical decisions early.</a:t>
            </a:r>
          </a:p>
        </p:txBody>
      </p:sp>
    </p:spTree>
    <p:extLst>
      <p:ext uri="{BB962C8B-B14F-4D97-AF65-F5344CB8AC3E}">
        <p14:creationId xmlns:p14="http://schemas.microsoft.com/office/powerpoint/2010/main" val="169394270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LITERATURE REVIEW"/>
          <p:cNvSpPr txBox="1">
            <a:spLocks noGrp="1"/>
          </p:cNvSpPr>
          <p:nvPr>
            <p:ph type="title"/>
          </p:nvPr>
        </p:nvSpPr>
        <p:spPr>
          <a:xfrm>
            <a:off x="1091480" y="243842"/>
            <a:ext cx="10515601" cy="365758"/>
          </a:xfrm>
          <a:prstGeom prst="rect">
            <a:avLst/>
          </a:prstGeom>
        </p:spPr>
        <p:txBody>
          <a:bodyPr>
            <a:normAutofit fontScale="90000"/>
          </a:bodyPr>
          <a:lstStyle/>
          <a:p>
            <a:pPr algn="ctr">
              <a:lnSpc>
                <a:spcPct val="100000"/>
              </a:lnSpc>
              <a:defRPr>
                <a:latin typeface="Times New Roman"/>
                <a:ea typeface="Times New Roman"/>
                <a:cs typeface="Times New Roman"/>
                <a:sym typeface="Times New Roman"/>
              </a:defRPr>
            </a:pPr>
            <a:r>
              <a:rPr b="1"/>
              <a:t>LITERATURE</a:t>
            </a:r>
            <a:r>
              <a:rPr b="1">
                <a:latin typeface="+mj-lt"/>
                <a:ea typeface="+mj-ea"/>
                <a:cs typeface="+mj-cs"/>
                <a:sym typeface="Calibri"/>
              </a:rPr>
              <a:t> </a:t>
            </a:r>
            <a:r>
              <a:rPr b="1"/>
              <a:t>REVIEW</a:t>
            </a:r>
          </a:p>
        </p:txBody>
      </p:sp>
      <p:sp>
        <p:nvSpPr>
          <p:cNvPr id="115" name="Early ICD-10 coding used rule-based and UMLS-based mapping systems – limited context handling [1], [2].…"/>
          <p:cNvSpPr txBox="1">
            <a:spLocks noGrp="1"/>
          </p:cNvSpPr>
          <p:nvPr>
            <p:ph type="body" idx="1"/>
          </p:nvPr>
        </p:nvSpPr>
        <p:spPr>
          <a:xfrm>
            <a:off x="269240" y="904240"/>
            <a:ext cx="11653520" cy="5364465"/>
          </a:xfrm>
          <a:prstGeom prst="rect">
            <a:avLst/>
          </a:prstGeom>
        </p:spPr>
        <p:txBody>
          <a:bodyPr>
            <a:noAutofit/>
          </a:bodyPr>
          <a:lstStyle/>
          <a:p>
            <a:r>
              <a:rPr lang="en-US" sz="2400" b="1" dirty="0">
                <a:latin typeface="Times New Roman" panose="02020603050405020304" pitchFamily="18" charset="0"/>
                <a:cs typeface="Times New Roman" panose="02020603050405020304" pitchFamily="18" charset="0"/>
              </a:rPr>
              <a:t>Hager Saleh (2019):</a:t>
            </a:r>
            <a:r>
              <a:rPr lang="en-US" sz="2400" dirty="0">
                <a:latin typeface="Times New Roman" panose="02020603050405020304" pitchFamily="18" charset="0"/>
                <a:cs typeface="Times New Roman" panose="02020603050405020304" pitchFamily="18" charset="0"/>
              </a:rPr>
              <a:t> Used multiple ML models on large data; Random Forest ≈ 90% accuracy.</a:t>
            </a:r>
          </a:p>
          <a:p>
            <a:r>
              <a:rPr lang="en-US" sz="2400" b="1" dirty="0" err="1">
                <a:latin typeface="Times New Roman" panose="02020603050405020304" pitchFamily="18" charset="0"/>
                <a:cs typeface="Times New Roman" panose="02020603050405020304" pitchFamily="18" charset="0"/>
              </a:rPr>
              <a:t>Youngkeun</a:t>
            </a:r>
            <a:r>
              <a:rPr lang="en-US" sz="2400" b="1" dirty="0">
                <a:latin typeface="Times New Roman" panose="02020603050405020304" pitchFamily="18" charset="0"/>
                <a:cs typeface="Times New Roman" panose="02020603050405020304" pitchFamily="18" charset="0"/>
              </a:rPr>
              <a:t> Choi (2020):</a:t>
            </a:r>
            <a:r>
              <a:rPr lang="en-US" sz="2400" dirty="0">
                <a:latin typeface="Times New Roman" panose="02020603050405020304" pitchFamily="18" charset="0"/>
                <a:cs typeface="Times New Roman" panose="02020603050405020304" pitchFamily="18" charset="0"/>
              </a:rPr>
              <a:t> Decision Tree methods achieved about 98% stroke prediction accuracy.</a:t>
            </a:r>
          </a:p>
          <a:p>
            <a:r>
              <a:rPr lang="en-US" sz="2400" b="1" dirty="0" err="1">
                <a:latin typeface="Times New Roman" panose="02020603050405020304" pitchFamily="18" charset="0"/>
                <a:cs typeface="Times New Roman" panose="02020603050405020304" pitchFamily="18" charset="0"/>
              </a:rPr>
              <a:t>Redwanul</a:t>
            </a:r>
            <a:r>
              <a:rPr lang="en-US" sz="2400" b="1" dirty="0">
                <a:latin typeface="Times New Roman" panose="02020603050405020304" pitchFamily="18" charset="0"/>
                <a:cs typeface="Times New Roman" panose="02020603050405020304" pitchFamily="18" charset="0"/>
              </a:rPr>
              <a:t> Islam (2021):</a:t>
            </a:r>
            <a:r>
              <a:rPr lang="en-US" sz="2400" dirty="0">
                <a:latin typeface="Times New Roman" panose="02020603050405020304" pitchFamily="18" charset="0"/>
                <a:cs typeface="Times New Roman" panose="02020603050405020304" pitchFamily="18" charset="0"/>
              </a:rPr>
              <a:t> Compared KNN, SVM, DT and XG Boost using hospital patient data.</a:t>
            </a:r>
          </a:p>
          <a:p>
            <a:r>
              <a:rPr lang="en-US" sz="2400" b="1" dirty="0">
                <a:latin typeface="Times New Roman" panose="02020603050405020304" pitchFamily="18" charset="0"/>
                <a:cs typeface="Times New Roman" panose="02020603050405020304" pitchFamily="18" charset="0"/>
              </a:rPr>
              <a:t>Tahia </a:t>
            </a:r>
            <a:r>
              <a:rPr lang="en-US" sz="2400" b="1" dirty="0" err="1">
                <a:latin typeface="Times New Roman" panose="02020603050405020304" pitchFamily="18" charset="0"/>
                <a:cs typeface="Times New Roman" panose="02020603050405020304" pitchFamily="18" charset="0"/>
              </a:rPr>
              <a:t>Tazin</a:t>
            </a:r>
            <a:r>
              <a:rPr lang="en-US" sz="2400" b="1" dirty="0">
                <a:latin typeface="Times New Roman" panose="02020603050405020304" pitchFamily="18" charset="0"/>
                <a:cs typeface="Times New Roman" panose="02020603050405020304" pitchFamily="18" charset="0"/>
              </a:rPr>
              <a:t> (2021):</a:t>
            </a:r>
            <a:r>
              <a:rPr lang="en-US" sz="2400" dirty="0">
                <a:latin typeface="Times New Roman" panose="02020603050405020304" pitchFamily="18" charset="0"/>
                <a:cs typeface="Times New Roman" panose="02020603050405020304" pitchFamily="18" charset="0"/>
              </a:rPr>
              <a:t> Applied SMOTE balancing; Random Forest ≈ 96% accuracy.</a:t>
            </a:r>
          </a:p>
          <a:p>
            <a:r>
              <a:rPr lang="en-US" sz="2400" b="1" dirty="0">
                <a:latin typeface="Times New Roman" panose="02020603050405020304" pitchFamily="18" charset="0"/>
                <a:cs typeface="Times New Roman" panose="02020603050405020304" pitchFamily="18" charset="0"/>
              </a:rPr>
              <a:t>Mohammed Saidul Islam (2022):</a:t>
            </a:r>
            <a:r>
              <a:rPr lang="en-US" sz="2400" dirty="0">
                <a:latin typeface="Times New Roman" panose="02020603050405020304" pitchFamily="18" charset="0"/>
                <a:cs typeface="Times New Roman" panose="02020603050405020304" pitchFamily="18" charset="0"/>
              </a:rPr>
              <a:t> Used EEG signals with explainable AI for stroke detection (~80% accuracy).</a:t>
            </a:r>
          </a:p>
          <a:p>
            <a:r>
              <a:rPr lang="en-US" sz="2400" b="1" dirty="0">
                <a:latin typeface="Times New Roman" panose="02020603050405020304" pitchFamily="18" charset="0"/>
                <a:cs typeface="Times New Roman" panose="02020603050405020304" pitchFamily="18" charset="0"/>
              </a:rPr>
              <a:t>Elias Dritsas (2022):</a:t>
            </a:r>
            <a:r>
              <a:rPr lang="en-US" sz="2400" dirty="0">
                <a:latin typeface="Times New Roman" panose="02020603050405020304" pitchFamily="18" charset="0"/>
                <a:cs typeface="Times New Roman" panose="02020603050405020304" pitchFamily="18" charset="0"/>
              </a:rPr>
              <a:t> Proposed stacking ensemble model to improve prediction performance.</a:t>
            </a:r>
          </a:p>
          <a:p>
            <a:r>
              <a:rPr lang="en-US" sz="2400" b="1" dirty="0" err="1">
                <a:latin typeface="Times New Roman" panose="02020603050405020304" pitchFamily="18" charset="0"/>
                <a:cs typeface="Times New Roman" panose="02020603050405020304" pitchFamily="18" charset="0"/>
              </a:rPr>
              <a:t>Mridha</a:t>
            </a:r>
            <a:r>
              <a:rPr lang="en-US" sz="2400" b="1" dirty="0">
                <a:latin typeface="Times New Roman" panose="02020603050405020304" pitchFamily="18" charset="0"/>
                <a:cs typeface="Times New Roman" panose="02020603050405020304" pitchFamily="18" charset="0"/>
              </a:rPr>
              <a:t> (2023):</a:t>
            </a:r>
            <a:r>
              <a:rPr lang="en-US" sz="2400" dirty="0">
                <a:latin typeface="Times New Roman" panose="02020603050405020304" pitchFamily="18" charset="0"/>
                <a:cs typeface="Times New Roman" panose="02020603050405020304" pitchFamily="18" charset="0"/>
              </a:rPr>
              <a:t> Developed explainable ML stroke prediction system using SHAP &amp; LIME (~91% accuracy).</a:t>
            </a:r>
          </a:p>
        </p:txBody>
      </p:sp>
      <p:pic>
        <p:nvPicPr>
          <p:cNvPr id="116" name="Picture 6" descr="Picture 6"/>
          <p:cNvPicPr>
            <a:picLocks noChangeAspect="1"/>
          </p:cNvPicPr>
          <p:nvPr/>
        </p:nvPicPr>
        <p:blipFill>
          <a:blip r:embed="rId2"/>
          <a:stretch>
            <a:fillRect/>
          </a:stretch>
        </p:blipFill>
        <p:spPr>
          <a:xfrm>
            <a:off x="1" y="1"/>
            <a:ext cx="1168398" cy="853437"/>
          </a:xfrm>
          <a:prstGeom prst="rect">
            <a:avLst/>
          </a:prstGeom>
          <a:ln w="12700">
            <a:miter lim="400000"/>
          </a:ln>
        </p:spPr>
      </p:pic>
      <p:cxnSp>
        <p:nvCxnSpPr>
          <p:cNvPr id="3" name="Straight Connector 2">
            <a:extLst>
              <a:ext uri="{FF2B5EF4-FFF2-40B4-BE49-F238E27FC236}">
                <a16:creationId xmlns:a16="http://schemas.microsoft.com/office/drawing/2014/main" id="{E19CF6D4-B68A-2E45-D144-90A9B4B7515C}"/>
              </a:ext>
            </a:extLst>
          </p:cNvPr>
          <p:cNvCxnSpPr>
            <a:cxnSpLocks/>
          </p:cNvCxnSpPr>
          <p:nvPr/>
        </p:nvCxnSpPr>
        <p:spPr>
          <a:xfrm>
            <a:off x="10160" y="868445"/>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A52678F0-9123-7110-BD2F-D1CCA24F20C1}"/>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C24DB2FB-344F-4C9F-F124-249D64FB2A1A}"/>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98B66-58AB-3C75-908E-39DA73FBFA20}"/>
              </a:ext>
            </a:extLst>
          </p:cNvPr>
          <p:cNvSpPr>
            <a:spLocks noGrp="1"/>
          </p:cNvSpPr>
          <p:nvPr>
            <p:ph type="title"/>
          </p:nvPr>
        </p:nvSpPr>
        <p:spPr>
          <a:xfrm>
            <a:off x="670420" y="0"/>
            <a:ext cx="10515600" cy="856080"/>
          </a:xfrm>
        </p:spPr>
        <p:txBody>
          <a:bodyPr/>
          <a:lstStyle/>
          <a:p>
            <a:pPr algn="ctr"/>
            <a:r>
              <a:rPr lang="en-IN" sz="4000" b="1">
                <a:latin typeface="Times New Roman" panose="02020603050405020304" pitchFamily="18" charset="0"/>
                <a:cs typeface="Times New Roman" panose="02020603050405020304" pitchFamily="18" charset="0"/>
              </a:rPr>
              <a:t>PROBLEM</a:t>
            </a:r>
            <a:r>
              <a:rPr lang="en-IN" b="1">
                <a:latin typeface="Times New Roman" panose="02020603050405020304" pitchFamily="18" charset="0"/>
                <a:cs typeface="Times New Roman" panose="02020603050405020304" pitchFamily="18" charset="0"/>
              </a:rPr>
              <a:t> </a:t>
            </a:r>
            <a:r>
              <a:rPr lang="en-IN" sz="4000" b="1">
                <a:latin typeface="Times New Roman" panose="02020603050405020304" pitchFamily="18" charset="0"/>
                <a:cs typeface="Times New Roman" panose="02020603050405020304" pitchFamily="18" charset="0"/>
              </a:rPr>
              <a:t>STATEMENT</a:t>
            </a:r>
          </a:p>
        </p:txBody>
      </p:sp>
      <p:sp>
        <p:nvSpPr>
          <p:cNvPr id="3" name="Text Placeholder 2">
            <a:extLst>
              <a:ext uri="{FF2B5EF4-FFF2-40B4-BE49-F238E27FC236}">
                <a16:creationId xmlns:a16="http://schemas.microsoft.com/office/drawing/2014/main" id="{F9C0E5A1-5073-4FC7-41FF-EB2B012F13A8}"/>
              </a:ext>
            </a:extLst>
          </p:cNvPr>
          <p:cNvSpPr>
            <a:spLocks noGrp="1"/>
          </p:cNvSpPr>
          <p:nvPr>
            <p:ph type="body" idx="1"/>
          </p:nvPr>
        </p:nvSpPr>
        <p:spPr>
          <a:xfrm>
            <a:off x="670420" y="1400815"/>
            <a:ext cx="10515600" cy="4351338"/>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Stroke prediction has been widely studied using machine learning techniques, but different algorithms produce different accuracy levels on the same dataset. Many studies focus on predicting whether a patient has stroke or not, rather than </a:t>
            </a:r>
            <a:r>
              <a:rPr lang="en-US" dirty="0" err="1">
                <a:latin typeface="Times New Roman" panose="02020603050405020304" pitchFamily="18" charset="0"/>
                <a:cs typeface="Times New Roman" panose="02020603050405020304" pitchFamily="18" charset="0"/>
              </a:rPr>
              <a:t>analysing</a:t>
            </a:r>
            <a:r>
              <a:rPr lang="en-US" dirty="0">
                <a:latin typeface="Times New Roman" panose="02020603050405020304" pitchFamily="18" charset="0"/>
                <a:cs typeface="Times New Roman" panose="02020603050405020304" pitchFamily="18" charset="0"/>
              </a:rPr>
              <a:t> which algorithm performs best for the prediction task. Because of this, it becomes difficult to identify the most reliable model for stroke risk classification. There is a need to systematically evaluate multiple machine learning models using the same patient dataset.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addition, dataset imbalance and feature selection significantly affect prediction performance, yet not all algorithms handle them equally. Without proper comparison, selecting an appropriate model for stroke prediction becomes uncertain. Therefore, this project aims to </a:t>
            </a:r>
            <a:r>
              <a:rPr lang="en-US" dirty="0" err="1">
                <a:latin typeface="Times New Roman" panose="02020603050405020304" pitchFamily="18" charset="0"/>
                <a:cs typeface="Times New Roman" panose="02020603050405020304" pitchFamily="18" charset="0"/>
              </a:rPr>
              <a:t>analyse</a:t>
            </a:r>
            <a:r>
              <a:rPr lang="en-US" dirty="0">
                <a:latin typeface="Times New Roman" panose="02020603050405020304" pitchFamily="18" charset="0"/>
                <a:cs typeface="Times New Roman" panose="02020603050405020304" pitchFamily="18" charset="0"/>
              </a:rPr>
              <a:t> patient data and compare various machine learning algorithms to determine which model provides the highest accuracy and most reliable prediction performance.</a:t>
            </a:r>
          </a:p>
        </p:txBody>
      </p:sp>
      <p:pic>
        <p:nvPicPr>
          <p:cNvPr id="4" name="Picture 4" descr="Picture 4">
            <a:extLst>
              <a:ext uri="{FF2B5EF4-FFF2-40B4-BE49-F238E27FC236}">
                <a16:creationId xmlns:a16="http://schemas.microsoft.com/office/drawing/2014/main" id="{79613A6B-EA6D-86AD-B578-95C8C43A9870}"/>
              </a:ext>
            </a:extLst>
          </p:cNvPr>
          <p:cNvPicPr>
            <a:picLocks noChangeAspect="1"/>
          </p:cNvPicPr>
          <p:nvPr/>
        </p:nvPicPr>
        <p:blipFill>
          <a:blip r:embed="rId2"/>
          <a:stretch>
            <a:fillRect/>
          </a:stretch>
        </p:blipFill>
        <p:spPr>
          <a:xfrm>
            <a:off x="67113" y="67113"/>
            <a:ext cx="1048620" cy="856079"/>
          </a:xfrm>
          <a:prstGeom prst="rect">
            <a:avLst/>
          </a:prstGeom>
          <a:ln w="12700">
            <a:miter lim="400000"/>
          </a:ln>
        </p:spPr>
      </p:pic>
      <p:cxnSp>
        <p:nvCxnSpPr>
          <p:cNvPr id="5" name="Straight Connector 4">
            <a:extLst>
              <a:ext uri="{FF2B5EF4-FFF2-40B4-BE49-F238E27FC236}">
                <a16:creationId xmlns:a16="http://schemas.microsoft.com/office/drawing/2014/main" id="{1757D008-C2E8-6872-FDCF-5A701DCD8F41}"/>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01BF9631-4574-331F-B2D3-A56406DB046C}"/>
              </a:ext>
            </a:extLst>
          </p:cNvPr>
          <p:cNvCxnSpPr>
            <a:cxnSpLocks/>
          </p:cNvCxnSpPr>
          <p:nvPr/>
        </p:nvCxnSpPr>
        <p:spPr>
          <a:xfrm>
            <a:off x="0" y="6529278"/>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03A49352-59D7-1EE8-1805-91902A2C29FA}"/>
              </a:ext>
            </a:extLst>
          </p:cNvPr>
          <p:cNvSpPr txBox="1"/>
          <p:nvPr/>
        </p:nvSpPr>
        <p:spPr>
          <a:xfrm>
            <a:off x="192946" y="6529278"/>
            <a:ext cx="10712742"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71027406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5060-82AB-88CD-99BD-2CE11C55BB7A}"/>
            </a:ext>
          </a:extLst>
        </p:cNvPr>
        <p:cNvGrpSpPr/>
        <p:nvPr/>
      </p:nvGrpSpPr>
      <p:grpSpPr>
        <a:xfrm>
          <a:off x="0" y="0"/>
          <a:ext cx="0" cy="0"/>
          <a:chOff x="0" y="0"/>
          <a:chExt cx="0" cy="0"/>
        </a:xfrm>
      </p:grpSpPr>
      <p:sp>
        <p:nvSpPr>
          <p:cNvPr id="110" name="ABSTRACT">
            <a:extLst>
              <a:ext uri="{FF2B5EF4-FFF2-40B4-BE49-F238E27FC236}">
                <a16:creationId xmlns:a16="http://schemas.microsoft.com/office/drawing/2014/main" id="{085892FE-A0F3-CA92-F615-F9402BEC1569}"/>
              </a:ext>
            </a:extLst>
          </p:cNvPr>
          <p:cNvSpPr txBox="1">
            <a:spLocks noGrp="1"/>
          </p:cNvSpPr>
          <p:nvPr>
            <p:ph type="title"/>
          </p:nvPr>
        </p:nvSpPr>
        <p:spPr>
          <a:xfrm>
            <a:off x="838200" y="227621"/>
            <a:ext cx="10515600" cy="453416"/>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r>
              <a:rPr lang="en-US" b="1" dirty="0"/>
              <a:t>OBJECTIVE</a:t>
            </a:r>
            <a:endParaRPr b="1" dirty="0"/>
          </a:p>
        </p:txBody>
      </p:sp>
      <p:sp>
        <p:nvSpPr>
          <p:cNvPr id="111" name="Medical coding is an essential yet predominantly manual process, contributing to substantial inefficiencies and errors in healthcare systems.…">
            <a:extLst>
              <a:ext uri="{FF2B5EF4-FFF2-40B4-BE49-F238E27FC236}">
                <a16:creationId xmlns:a16="http://schemas.microsoft.com/office/drawing/2014/main" id="{2EF10AF7-B404-D5FA-2F30-9F323521A66A}"/>
              </a:ext>
            </a:extLst>
          </p:cNvPr>
          <p:cNvSpPr txBox="1">
            <a:spLocks noGrp="1"/>
          </p:cNvSpPr>
          <p:nvPr>
            <p:ph type="body" idx="1"/>
          </p:nvPr>
        </p:nvSpPr>
        <p:spPr>
          <a:xfrm>
            <a:off x="213360" y="1280161"/>
            <a:ext cx="11755120" cy="4896802"/>
          </a:xfrm>
          <a:prstGeom prst="rect">
            <a:avLst/>
          </a:prstGeom>
        </p:spPr>
        <p:txBody>
          <a:bodyPr/>
          <a:lstStyle/>
          <a:p>
            <a:pPr marL="0" indent="0" algn="just" eaLnBrk="0" fontAlgn="base" hangingPunct="0">
              <a:lnSpc>
                <a:spcPct val="100000"/>
              </a:lnSpc>
              <a:spcBef>
                <a:spcPct val="0"/>
              </a:spcBef>
              <a:spcAft>
                <a:spcPct val="0"/>
              </a:spcAft>
              <a:buNone/>
            </a:pPr>
            <a:r>
              <a:rPr lang="en-GB" dirty="0">
                <a:latin typeface="Times New Roman"/>
                <a:ea typeface="Times New Roman"/>
                <a:cs typeface="Times New Roman"/>
                <a:sym typeface="Times New Roman"/>
              </a:rPr>
              <a:t>The goal of this study was study aimed to achieve </a:t>
            </a:r>
            <a:r>
              <a:rPr lang="en-GB" b="1" dirty="0">
                <a:latin typeface="Times New Roman"/>
                <a:ea typeface="Times New Roman"/>
                <a:cs typeface="Times New Roman"/>
                <a:sym typeface="Times New Roman"/>
              </a:rPr>
              <a:t>Three objectives</a:t>
            </a:r>
            <a:r>
              <a:rPr lang="en-GB" dirty="0">
                <a:latin typeface="Times New Roman"/>
                <a:ea typeface="Times New Roman"/>
                <a:cs typeface="Times New Roman"/>
                <a:sym typeface="Times New Roman"/>
              </a:rPr>
              <a:t>:</a:t>
            </a:r>
          </a:p>
          <a:p>
            <a:pPr marL="0" indent="0" algn="just" eaLnBrk="0" fontAlgn="base" hangingPunct="0">
              <a:lnSpc>
                <a:spcPct val="100000"/>
              </a:lnSpc>
              <a:spcBef>
                <a:spcPct val="0"/>
              </a:spcBef>
              <a:spcAft>
                <a:spcPct val="0"/>
              </a:spcAft>
              <a:buNone/>
            </a:pPr>
            <a:endParaRPr lang="en-GB" dirty="0">
              <a:latin typeface="Times New Roman"/>
              <a:ea typeface="Times New Roman"/>
              <a:cs typeface="Times New Roman"/>
              <a:sym typeface="Times New Roman"/>
            </a:endParaRPr>
          </a:p>
          <a:p>
            <a:pPr marL="571500" indent="-571500" eaLnBrk="0" fontAlgn="base" hangingPunct="0">
              <a:lnSpc>
                <a:spcPct val="150000"/>
              </a:lnSpc>
              <a:spcBef>
                <a:spcPct val="0"/>
              </a:spcBef>
              <a:spcAft>
                <a:spcPct val="0"/>
              </a:spcAft>
              <a:buAutoNum type="romanLcParenBoth"/>
            </a:pPr>
            <a:r>
              <a:rPr lang="en-GB" dirty="0">
                <a:latin typeface="Times New Roman"/>
                <a:ea typeface="Times New Roman"/>
                <a:cs typeface="Times New Roman"/>
                <a:sym typeface="Times New Roman"/>
              </a:rPr>
              <a:t>To create a trustworthy machine learning model to predict stroke disease.</a:t>
            </a:r>
          </a:p>
          <a:p>
            <a:pPr marL="571500" indent="-571500" eaLnBrk="0" fontAlgn="base" hangingPunct="0">
              <a:lnSpc>
                <a:spcPct val="150000"/>
              </a:lnSpc>
              <a:spcBef>
                <a:spcPct val="0"/>
              </a:spcBef>
              <a:spcAft>
                <a:spcPct val="0"/>
              </a:spcAft>
              <a:buAutoNum type="romanLcParenBoth"/>
            </a:pPr>
            <a:r>
              <a:rPr lang="en-GB" dirty="0">
                <a:latin typeface="Times New Roman"/>
                <a:ea typeface="Times New Roman"/>
                <a:cs typeface="Times New Roman"/>
                <a:sym typeface="Times New Roman"/>
              </a:rPr>
              <a:t>To address the severe class imbalance issue that results from the stroke patients </a:t>
            </a:r>
          </a:p>
          <a:p>
            <a:pPr marL="571500" indent="-571500" eaLnBrk="0" fontAlgn="base" hangingPunct="0">
              <a:lnSpc>
                <a:spcPct val="150000"/>
              </a:lnSpc>
              <a:spcBef>
                <a:spcPct val="0"/>
              </a:spcBef>
              <a:spcAft>
                <a:spcPct val="0"/>
              </a:spcAft>
              <a:buAutoNum type="romanLcParenBoth"/>
            </a:pPr>
            <a:r>
              <a:rPr lang="en-GB" dirty="0">
                <a:latin typeface="Times New Roman"/>
                <a:ea typeface="Times New Roman"/>
                <a:cs typeface="Times New Roman"/>
                <a:sym typeface="Times New Roman"/>
              </a:rPr>
              <a:t>To interpret the model output to gain a better comprehension of the decision-making process </a:t>
            </a:r>
            <a:endParaRPr lang="en-US" dirty="0">
              <a:latin typeface="Times New Roman"/>
              <a:ea typeface="Times New Roman"/>
              <a:cs typeface="Times New Roman"/>
              <a:sym typeface="Times New Roman"/>
            </a:endParaRPr>
          </a:p>
          <a:p>
            <a:pPr marL="0" indent="0" algn="just" eaLnBrk="0" fontAlgn="base" hangingPunct="0">
              <a:lnSpc>
                <a:spcPct val="100000"/>
              </a:lnSpc>
              <a:spcBef>
                <a:spcPct val="0"/>
              </a:spcBef>
              <a:spcAft>
                <a:spcPct val="0"/>
              </a:spcAft>
              <a:buNone/>
            </a:pPr>
            <a:endParaRPr dirty="0">
              <a:latin typeface="Times New Roman" panose="02020603050405020304" pitchFamily="18" charset="0"/>
              <a:cs typeface="Times New Roman" panose="02020603050405020304" pitchFamily="18" charset="0"/>
            </a:endParaRPr>
          </a:p>
        </p:txBody>
      </p:sp>
      <p:pic>
        <p:nvPicPr>
          <p:cNvPr id="112" name="Picture 3" descr="Picture 3">
            <a:extLst>
              <a:ext uri="{FF2B5EF4-FFF2-40B4-BE49-F238E27FC236}">
                <a16:creationId xmlns:a16="http://schemas.microsoft.com/office/drawing/2014/main" id="{EC644001-A707-4D77-37D9-5803FCB993DA}"/>
              </a:ext>
            </a:extLst>
          </p:cNvPr>
          <p:cNvPicPr>
            <a:picLocks noChangeAspect="1"/>
          </p:cNvPicPr>
          <p:nvPr/>
        </p:nvPicPr>
        <p:blipFill>
          <a:blip r:embed="rId2"/>
          <a:stretch>
            <a:fillRect/>
          </a:stretch>
        </p:blipFill>
        <p:spPr>
          <a:xfrm>
            <a:off x="1" y="0"/>
            <a:ext cx="956360" cy="843269"/>
          </a:xfrm>
          <a:prstGeom prst="rect">
            <a:avLst/>
          </a:prstGeom>
          <a:ln w="12700">
            <a:miter lim="400000"/>
          </a:ln>
        </p:spPr>
      </p:pic>
      <p:cxnSp>
        <p:nvCxnSpPr>
          <p:cNvPr id="3" name="Straight Connector 2">
            <a:extLst>
              <a:ext uri="{FF2B5EF4-FFF2-40B4-BE49-F238E27FC236}">
                <a16:creationId xmlns:a16="http://schemas.microsoft.com/office/drawing/2014/main" id="{C8D59D6C-D500-DB36-BCE7-97409F7ED359}"/>
              </a:ext>
            </a:extLst>
          </p:cNvPr>
          <p:cNvCxnSpPr/>
          <p:nvPr/>
        </p:nvCxnSpPr>
        <p:spPr>
          <a:xfrm>
            <a:off x="0" y="8432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29136904-D5B0-452A-CBD3-379191E038C2}"/>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EC213A60-1830-8385-C177-99C00E90E31B}"/>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Tree>
    <p:extLst>
      <p:ext uri="{BB962C8B-B14F-4D97-AF65-F5344CB8AC3E}">
        <p14:creationId xmlns:p14="http://schemas.microsoft.com/office/powerpoint/2010/main" val="11989163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PROBLEM STATEMENT"/>
          <p:cNvSpPr txBox="1">
            <a:spLocks noGrp="1"/>
          </p:cNvSpPr>
          <p:nvPr>
            <p:ph type="title"/>
          </p:nvPr>
        </p:nvSpPr>
        <p:spPr>
          <a:xfrm>
            <a:off x="838200" y="144881"/>
            <a:ext cx="10515600" cy="617119"/>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pPr>
              <a:lnSpc>
                <a:spcPts val="7000"/>
              </a:lnSpc>
            </a:pPr>
            <a:r>
              <a:rPr lang="en-GB" b="1" dirty="0">
                <a:latin typeface="Times New Roman Bold"/>
                <a:ea typeface="Times New Roman Bold"/>
                <a:cs typeface="Times New Roman Bold"/>
                <a:sym typeface="Times New Roman Bold"/>
              </a:rPr>
              <a:t>EXISTING SYSTEM </a:t>
            </a:r>
            <a:endParaRPr lang="en-US" b="1" dirty="0">
              <a:latin typeface="Times New Roman Bold"/>
              <a:ea typeface="Times New Roman Bold"/>
              <a:cs typeface="Times New Roman Bold"/>
              <a:sym typeface="Times New Roman Bold"/>
            </a:endParaRPr>
          </a:p>
        </p:txBody>
      </p:sp>
      <p:sp>
        <p:nvSpPr>
          <p:cNvPr id="123" name="Outpatient notes often contain abbreviations, reordered diagnoses, and inconsistent phrasing that complicate ICD-10 mapping.…"/>
          <p:cNvSpPr txBox="1">
            <a:spLocks noGrp="1"/>
          </p:cNvSpPr>
          <p:nvPr>
            <p:ph type="body" idx="1"/>
          </p:nvPr>
        </p:nvSpPr>
        <p:spPr>
          <a:xfrm>
            <a:off x="335280" y="965201"/>
            <a:ext cx="11623040" cy="5174414"/>
          </a:xfrm>
          <a:prstGeom prst="rect">
            <a:avLst/>
          </a:prstGeom>
        </p:spPr>
        <p:txBody>
          <a:bodyPr>
            <a:noAutofit/>
          </a:bodyPr>
          <a:lstStyle/>
          <a:p>
            <a:pPr algn="just"/>
            <a:r>
              <a:rPr lang="en-US" dirty="0">
                <a:latin typeface="Times New Roman" panose="02020603050405020304" pitchFamily="18" charset="0"/>
                <a:cs typeface="Times New Roman" panose="02020603050405020304" pitchFamily="18" charset="0"/>
              </a:rPr>
              <a:t>In the existing system, stroke prediction relies on traditional statistical methods and conventional machine learning algorithms such as Logistic Regression, Decision Tree, and SVM. These models primarily use structured clinical data and often treat features independently, without fully capturing complex relationships among risk factors. This leads to limited interpretability, reduced generalization ability, and potential overfitting.</a:t>
            </a:r>
          </a:p>
          <a:p>
            <a:pPr marL="0" indent="0" algn="just">
              <a:buNone/>
            </a:pPr>
            <a:endParaRPr lang="en-US" dirty="0">
              <a:solidFill>
                <a:schemeClr val="tx1"/>
              </a:solidFill>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Ignoring feature interactions and lacking model transparency reduces the reliability of predictions in real-world. As a result, healthcare professionals may find it difficult to understand the reasoning behind predictions, which limits trust and practical adoption. </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24" name="Picture 4" descr="Picture 4"/>
          <p:cNvPicPr>
            <a:picLocks noChangeAspect="1"/>
          </p:cNvPicPr>
          <p:nvPr/>
        </p:nvPicPr>
        <p:blipFill>
          <a:blip r:embed="rId2"/>
          <a:stretch>
            <a:fillRect/>
          </a:stretch>
        </p:blipFill>
        <p:spPr>
          <a:xfrm>
            <a:off x="1" y="1"/>
            <a:ext cx="1048620" cy="856079"/>
          </a:xfrm>
          <a:prstGeom prst="rect">
            <a:avLst/>
          </a:prstGeom>
          <a:ln w="12700">
            <a:miter lim="400000"/>
          </a:ln>
        </p:spPr>
      </p:pic>
      <p:cxnSp>
        <p:nvCxnSpPr>
          <p:cNvPr id="3" name="Straight Connector 2">
            <a:extLst>
              <a:ext uri="{FF2B5EF4-FFF2-40B4-BE49-F238E27FC236}">
                <a16:creationId xmlns:a16="http://schemas.microsoft.com/office/drawing/2014/main" id="{2E7E2196-23F6-EEA7-5D5C-307755615C55}"/>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10861A39-836C-B613-D81B-84B7A87C5729}"/>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CC484FFD-417B-E7F6-3819-091D58ED7419}"/>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3817-341F-A774-89B8-BC1EF8EFD8F9}"/>
            </a:ext>
          </a:extLst>
        </p:cNvPr>
        <p:cNvGrpSpPr/>
        <p:nvPr/>
      </p:nvGrpSpPr>
      <p:grpSpPr>
        <a:xfrm>
          <a:off x="0" y="0"/>
          <a:ext cx="0" cy="0"/>
          <a:chOff x="0" y="0"/>
          <a:chExt cx="0" cy="0"/>
        </a:xfrm>
      </p:grpSpPr>
      <p:sp>
        <p:nvSpPr>
          <p:cNvPr id="122" name="PROBLEM STATEMENT">
            <a:extLst>
              <a:ext uri="{FF2B5EF4-FFF2-40B4-BE49-F238E27FC236}">
                <a16:creationId xmlns:a16="http://schemas.microsoft.com/office/drawing/2014/main" id="{E3CF9E23-8708-92EF-ADB5-4A6AA0482CB2}"/>
              </a:ext>
            </a:extLst>
          </p:cNvPr>
          <p:cNvSpPr txBox="1">
            <a:spLocks noGrp="1"/>
          </p:cNvSpPr>
          <p:nvPr>
            <p:ph type="title"/>
          </p:nvPr>
        </p:nvSpPr>
        <p:spPr>
          <a:xfrm>
            <a:off x="1162292" y="121955"/>
            <a:ext cx="10515600" cy="617119"/>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pPr>
              <a:lnSpc>
                <a:spcPts val="7000"/>
              </a:lnSpc>
            </a:pPr>
            <a:r>
              <a:rPr lang="en-GB" b="1" dirty="0">
                <a:latin typeface="Times New Roman Bold"/>
                <a:ea typeface="Times New Roman Bold"/>
                <a:cs typeface="Times New Roman Bold"/>
                <a:sym typeface="Times New Roman Bold"/>
              </a:rPr>
              <a:t>DISADVANTAGES </a:t>
            </a:r>
            <a:endParaRPr lang="en-US" b="1" dirty="0">
              <a:latin typeface="Times New Roman Bold"/>
              <a:ea typeface="Times New Roman Bold"/>
              <a:cs typeface="Times New Roman Bold"/>
              <a:sym typeface="Times New Roman Bold"/>
            </a:endParaRPr>
          </a:p>
        </p:txBody>
      </p:sp>
      <p:pic>
        <p:nvPicPr>
          <p:cNvPr id="124" name="Picture 4" descr="Picture 4">
            <a:extLst>
              <a:ext uri="{FF2B5EF4-FFF2-40B4-BE49-F238E27FC236}">
                <a16:creationId xmlns:a16="http://schemas.microsoft.com/office/drawing/2014/main" id="{A99B1853-9748-C543-33DA-A4B13F750A9E}"/>
              </a:ext>
            </a:extLst>
          </p:cNvPr>
          <p:cNvPicPr>
            <a:picLocks noChangeAspect="1"/>
          </p:cNvPicPr>
          <p:nvPr/>
        </p:nvPicPr>
        <p:blipFill>
          <a:blip r:embed="rId2"/>
          <a:stretch>
            <a:fillRect/>
          </a:stretch>
        </p:blipFill>
        <p:spPr>
          <a:xfrm>
            <a:off x="1" y="1"/>
            <a:ext cx="1048620" cy="856079"/>
          </a:xfrm>
          <a:prstGeom prst="rect">
            <a:avLst/>
          </a:prstGeom>
          <a:ln w="12700">
            <a:miter lim="400000"/>
          </a:ln>
        </p:spPr>
      </p:pic>
      <p:cxnSp>
        <p:nvCxnSpPr>
          <p:cNvPr id="3" name="Straight Connector 2">
            <a:extLst>
              <a:ext uri="{FF2B5EF4-FFF2-40B4-BE49-F238E27FC236}">
                <a16:creationId xmlns:a16="http://schemas.microsoft.com/office/drawing/2014/main" id="{E913C2D1-5580-3EBD-9CA3-0D3D21C122CE}"/>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63CE7644-819A-9E5E-50A5-E327111DDBF6}"/>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B2C8B01D-5302-5836-13FA-F9521962F8C1}"/>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4" name="Rectangle 2">
            <a:extLst>
              <a:ext uri="{FF2B5EF4-FFF2-40B4-BE49-F238E27FC236}">
                <a16:creationId xmlns:a16="http://schemas.microsoft.com/office/drawing/2014/main" id="{2040EC66-7E2D-41AC-310E-20C68278707C}"/>
              </a:ext>
            </a:extLst>
          </p:cNvPr>
          <p:cNvSpPr>
            <a:spLocks noGrp="1" noChangeArrowheads="1"/>
          </p:cNvSpPr>
          <p:nvPr>
            <p:ph type="body" idx="1"/>
          </p:nvPr>
        </p:nvSpPr>
        <p:spPr bwMode="auto">
          <a:xfrm>
            <a:off x="439839" y="1718453"/>
            <a:ext cx="1123805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The existing system mainly </a:t>
            </a:r>
            <a:r>
              <a:rPr lang="en-US" altLang="en-US" sz="2400" b="1" dirty="0">
                <a:solidFill>
                  <a:schemeClr val="tx1"/>
                </a:solidFill>
                <a:latin typeface="Times New Roman" panose="02020603050405020304" pitchFamily="18" charset="0"/>
                <a:cs typeface="Times New Roman" panose="02020603050405020304" pitchFamily="18" charset="0"/>
              </a:rPr>
              <a:t>relies on traditional methods </a:t>
            </a:r>
            <a:r>
              <a:rPr lang="en-US" altLang="en-US" sz="2400" dirty="0">
                <a:solidFill>
                  <a:schemeClr val="tx1"/>
                </a:solidFill>
                <a:latin typeface="Times New Roman" panose="02020603050405020304" pitchFamily="18" charset="0"/>
                <a:cs typeface="Times New Roman" panose="02020603050405020304" pitchFamily="18" charset="0"/>
              </a:rPr>
              <a:t>for prediction, which are not efficient for complex medical data analysis.</a:t>
            </a:r>
          </a:p>
          <a:p>
            <a:pPr marL="0" lvl="0" indent="0" algn="just" eaLnBrk="0" fontAlgn="base" hangingPunct="0">
              <a:lnSpc>
                <a:spcPct val="100000"/>
              </a:lnSpc>
              <a:spcBef>
                <a:spcPct val="0"/>
              </a:spcBef>
              <a:spcAft>
                <a:spcPct val="0"/>
              </a:spcAft>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It produces </a:t>
            </a:r>
            <a:r>
              <a:rPr lang="en-US" altLang="en-US" sz="2400" b="1" dirty="0">
                <a:solidFill>
                  <a:schemeClr val="tx1"/>
                </a:solidFill>
                <a:latin typeface="Times New Roman" panose="02020603050405020304" pitchFamily="18" charset="0"/>
                <a:cs typeface="Times New Roman" panose="02020603050405020304" pitchFamily="18" charset="0"/>
              </a:rPr>
              <a:t>lower accuracy </a:t>
            </a:r>
            <a:r>
              <a:rPr lang="en-US" altLang="en-US" sz="2400" dirty="0">
                <a:solidFill>
                  <a:schemeClr val="tx1"/>
                </a:solidFill>
                <a:latin typeface="Times New Roman" panose="02020603050405020304" pitchFamily="18" charset="0"/>
                <a:cs typeface="Times New Roman" panose="02020603050405020304" pitchFamily="18" charset="0"/>
              </a:rPr>
              <a:t>in results, making the prediction less reliable.</a:t>
            </a:r>
          </a:p>
          <a:p>
            <a:pPr marL="0" lvl="0" indent="0" algn="just" eaLnBrk="0" fontAlgn="base" hangingPunct="0">
              <a:lnSpc>
                <a:spcPct val="100000"/>
              </a:lnSpc>
              <a:spcBef>
                <a:spcPct val="0"/>
              </a:spcBef>
              <a:spcAft>
                <a:spcPct val="0"/>
              </a:spcAft>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The process takes more time to generate outcomes, </a:t>
            </a:r>
            <a:r>
              <a:rPr lang="en-US" altLang="en-US" sz="2400" b="1" dirty="0">
                <a:solidFill>
                  <a:schemeClr val="tx1"/>
                </a:solidFill>
                <a:latin typeface="Times New Roman" panose="02020603050405020304" pitchFamily="18" charset="0"/>
                <a:cs typeface="Times New Roman" panose="02020603050405020304" pitchFamily="18" charset="0"/>
              </a:rPr>
              <a:t>reducing overall efficiency</a:t>
            </a:r>
            <a:r>
              <a:rPr lang="en-US" altLang="en-US" sz="2400" dirty="0">
                <a:solidFill>
                  <a:schemeClr val="tx1"/>
                </a:solidFill>
                <a:latin typeface="Times New Roman" panose="02020603050405020304" pitchFamily="18" charset="0"/>
                <a:cs typeface="Times New Roman" panose="02020603050405020304" pitchFamily="18" charset="0"/>
              </a:rPr>
              <a:t>.</a:t>
            </a:r>
          </a:p>
          <a:p>
            <a:pPr marL="0" lvl="0" indent="0" algn="just" eaLnBrk="0" fontAlgn="base" hangingPunct="0">
              <a:lnSpc>
                <a:spcPct val="100000"/>
              </a:lnSpc>
              <a:spcBef>
                <a:spcPct val="0"/>
              </a:spcBef>
              <a:spcAft>
                <a:spcPct val="0"/>
              </a:spcAft>
              <a:buSzTx/>
              <a:buNone/>
            </a:pPr>
            <a:endParaRPr lang="en-US" altLang="en-US" sz="2400" dirty="0">
              <a:solidFill>
                <a:schemeClr val="tx1"/>
              </a:solidFill>
              <a:latin typeface="Times New Roman" panose="02020603050405020304" pitchFamily="18" charset="0"/>
              <a:cs typeface="Times New Roman" panose="02020603050405020304" pitchFamily="18" charset="0"/>
            </a:endParaRPr>
          </a:p>
          <a:p>
            <a:pPr marL="0" lvl="0" indent="0" algn="just" eaLnBrk="0" fontAlgn="base" hangingPunct="0">
              <a:lnSpc>
                <a:spcPct val="100000"/>
              </a:lnSpc>
              <a:spcBef>
                <a:spcPct val="0"/>
              </a:spcBef>
              <a:spcAft>
                <a:spcPct val="0"/>
              </a:spcAft>
              <a:buSzTx/>
              <a:buFontTx/>
              <a:buChar char="•"/>
            </a:pPr>
            <a:r>
              <a:rPr lang="en-US" altLang="en-US" sz="2400" dirty="0">
                <a:solidFill>
                  <a:schemeClr val="tx1"/>
                </a:solidFill>
                <a:latin typeface="Times New Roman" panose="02020603050405020304" pitchFamily="18" charset="0"/>
                <a:cs typeface="Times New Roman" panose="02020603050405020304" pitchFamily="18" charset="0"/>
              </a:rPr>
              <a:t>It does not </a:t>
            </a:r>
            <a:r>
              <a:rPr lang="en-US" altLang="en-US" sz="2400" b="1" dirty="0">
                <a:solidFill>
                  <a:schemeClr val="tx1"/>
                </a:solidFill>
                <a:latin typeface="Times New Roman" panose="02020603050405020304" pitchFamily="18" charset="0"/>
                <a:cs typeface="Times New Roman" panose="02020603050405020304" pitchFamily="18" charset="0"/>
              </a:rPr>
              <a:t>utilize advanced or intelligent techniques</a:t>
            </a:r>
            <a:r>
              <a:rPr lang="en-US" altLang="en-US" sz="2400" dirty="0">
                <a:solidFill>
                  <a:schemeClr val="tx1"/>
                </a:solidFill>
                <a:latin typeface="Times New Roman" panose="02020603050405020304" pitchFamily="18" charset="0"/>
                <a:cs typeface="Times New Roman" panose="02020603050405020304" pitchFamily="18" charset="0"/>
              </a:rPr>
              <a:t> such as machine learning for better decision making.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589488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2F99A-B1B9-4F56-20F6-47AAFC98EDB7}"/>
            </a:ext>
          </a:extLst>
        </p:cNvPr>
        <p:cNvGrpSpPr/>
        <p:nvPr/>
      </p:nvGrpSpPr>
      <p:grpSpPr>
        <a:xfrm>
          <a:off x="0" y="0"/>
          <a:ext cx="0" cy="0"/>
          <a:chOff x="0" y="0"/>
          <a:chExt cx="0" cy="0"/>
        </a:xfrm>
      </p:grpSpPr>
      <p:sp>
        <p:nvSpPr>
          <p:cNvPr id="122" name="PROBLEM STATEMENT">
            <a:extLst>
              <a:ext uri="{FF2B5EF4-FFF2-40B4-BE49-F238E27FC236}">
                <a16:creationId xmlns:a16="http://schemas.microsoft.com/office/drawing/2014/main" id="{B4673264-050E-8C66-1C19-375F07066CDB}"/>
              </a:ext>
            </a:extLst>
          </p:cNvPr>
          <p:cNvSpPr txBox="1">
            <a:spLocks noGrp="1"/>
          </p:cNvSpPr>
          <p:nvPr>
            <p:ph type="title"/>
          </p:nvPr>
        </p:nvSpPr>
        <p:spPr>
          <a:xfrm>
            <a:off x="838200" y="144881"/>
            <a:ext cx="10515600" cy="617119"/>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pPr>
              <a:lnSpc>
                <a:spcPts val="7000"/>
              </a:lnSpc>
            </a:pPr>
            <a:r>
              <a:rPr lang="en-GB" b="1" dirty="0">
                <a:latin typeface="Times New Roman" panose="02020603050405020304" pitchFamily="18" charset="0"/>
                <a:cs typeface="Times New Roman" panose="02020603050405020304" pitchFamily="18" charset="0"/>
              </a:rPr>
              <a:t>PROPOSED SYSTEM</a:t>
            </a:r>
            <a:r>
              <a:rPr lang="en-GB" dirty="0"/>
              <a:t> </a:t>
            </a:r>
            <a:endParaRPr lang="en-US" b="1" dirty="0">
              <a:latin typeface="Times New Roman Bold"/>
              <a:ea typeface="Times New Roman Bold"/>
              <a:cs typeface="Times New Roman Bold"/>
              <a:sym typeface="Times New Roman Bold"/>
            </a:endParaRPr>
          </a:p>
        </p:txBody>
      </p:sp>
      <p:sp>
        <p:nvSpPr>
          <p:cNvPr id="123" name="Outpatient notes often contain abbreviations, reordered diagnoses, and inconsistent phrasing that complicate ICD-10 mapping.…">
            <a:extLst>
              <a:ext uri="{FF2B5EF4-FFF2-40B4-BE49-F238E27FC236}">
                <a16:creationId xmlns:a16="http://schemas.microsoft.com/office/drawing/2014/main" id="{331182D3-59E3-F03F-0F14-39C675D2BAD8}"/>
              </a:ext>
            </a:extLst>
          </p:cNvPr>
          <p:cNvSpPr txBox="1">
            <a:spLocks noGrp="1"/>
          </p:cNvSpPr>
          <p:nvPr>
            <p:ph type="body" idx="1"/>
          </p:nvPr>
        </p:nvSpPr>
        <p:spPr>
          <a:xfrm>
            <a:off x="335280" y="965201"/>
            <a:ext cx="11623040" cy="5174414"/>
          </a:xfrm>
          <a:prstGeom prst="rect">
            <a:avLst/>
          </a:prstGeom>
        </p:spPr>
        <p:txBody>
          <a:bodyPr>
            <a:noAutofit/>
          </a:bodyPr>
          <a:lstStyle/>
          <a:p>
            <a:pPr algn="just"/>
            <a:r>
              <a:rPr lang="en-US" dirty="0">
                <a:latin typeface="Times New Roman" panose="02020603050405020304" pitchFamily="18" charset="0"/>
                <a:cs typeface="Times New Roman" panose="02020603050405020304" pitchFamily="18" charset="0"/>
              </a:rPr>
              <a:t>The proposed system begins with collecting and </a:t>
            </a:r>
            <a:r>
              <a:rPr lang="en-US" dirty="0" err="1">
                <a:latin typeface="Times New Roman" panose="02020603050405020304" pitchFamily="18" charset="0"/>
                <a:cs typeface="Times New Roman" panose="02020603050405020304" pitchFamily="18" charset="0"/>
              </a:rPr>
              <a:t>analysing</a:t>
            </a:r>
            <a:r>
              <a:rPr lang="en-US" dirty="0">
                <a:latin typeface="Times New Roman" panose="02020603050405020304" pitchFamily="18" charset="0"/>
                <a:cs typeface="Times New Roman" panose="02020603050405020304" pitchFamily="18" charset="0"/>
              </a:rPr>
              <a:t> the stroke dataset. Data preprocessing is carried out to handle missing values and to encode categorical attributes properly. The dataset imbalance is addressed using the SMOTE balancing technique to improve learning performance. Feature selection is then applied to remove irrelevant parameters and enhance the quality of prediction.</a:t>
            </a:r>
          </a:p>
          <a:p>
            <a:pPr algn="just"/>
            <a:r>
              <a:rPr lang="en-US" dirty="0">
                <a:latin typeface="Times New Roman" panose="02020603050405020304" pitchFamily="18" charset="0"/>
                <a:cs typeface="Times New Roman" panose="02020603050405020304" pitchFamily="18" charset="0"/>
              </a:rPr>
              <a:t>After preprocessing, multiple machine learning algorithms are trained and tested using the same dataset. Performance measures such as accuracy, precision, recall and F1-score are calculated for each model. The algorithms are compared to identify the best performing model for stroke prediction. Finally, the results are presented using graphical visualization to make interpretation easier and more reliable.</a:t>
            </a:r>
          </a:p>
          <a:p>
            <a:pPr marL="0" indent="0">
              <a:buNone/>
            </a:pPr>
            <a:endParaRPr lang="en-US" dirty="0">
              <a:latin typeface="Times New Roman" panose="02020603050405020304" pitchFamily="18" charset="0"/>
              <a:cs typeface="Times New Roman" panose="02020603050405020304" pitchFamily="18" charset="0"/>
            </a:endParaRPr>
          </a:p>
        </p:txBody>
      </p:sp>
      <p:pic>
        <p:nvPicPr>
          <p:cNvPr id="124" name="Picture 4" descr="Picture 4">
            <a:extLst>
              <a:ext uri="{FF2B5EF4-FFF2-40B4-BE49-F238E27FC236}">
                <a16:creationId xmlns:a16="http://schemas.microsoft.com/office/drawing/2014/main" id="{BD2F6DEB-A110-03B6-2EDB-10A2A46751C7}"/>
              </a:ext>
            </a:extLst>
          </p:cNvPr>
          <p:cNvPicPr>
            <a:picLocks noChangeAspect="1"/>
          </p:cNvPicPr>
          <p:nvPr/>
        </p:nvPicPr>
        <p:blipFill>
          <a:blip r:embed="rId2"/>
          <a:stretch>
            <a:fillRect/>
          </a:stretch>
        </p:blipFill>
        <p:spPr>
          <a:xfrm>
            <a:off x="1" y="1"/>
            <a:ext cx="1048620" cy="856079"/>
          </a:xfrm>
          <a:prstGeom prst="rect">
            <a:avLst/>
          </a:prstGeom>
          <a:ln w="12700">
            <a:miter lim="400000"/>
          </a:ln>
        </p:spPr>
      </p:pic>
      <p:cxnSp>
        <p:nvCxnSpPr>
          <p:cNvPr id="3" name="Straight Connector 2">
            <a:extLst>
              <a:ext uri="{FF2B5EF4-FFF2-40B4-BE49-F238E27FC236}">
                <a16:creationId xmlns:a16="http://schemas.microsoft.com/office/drawing/2014/main" id="{8FE8AD83-C165-5ACD-BD33-11320A51C2F6}"/>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FF0F83F0-5587-901F-7E73-4F35A6DF50EF}"/>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BE6B23DB-3833-D464-23AF-AF63B6A757CE}"/>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Tree>
    <p:extLst>
      <p:ext uri="{BB962C8B-B14F-4D97-AF65-F5344CB8AC3E}">
        <p14:creationId xmlns:p14="http://schemas.microsoft.com/office/powerpoint/2010/main" val="363724221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88AEA-48F1-A9B0-ABF7-C98E2F462500}"/>
            </a:ext>
          </a:extLst>
        </p:cNvPr>
        <p:cNvGrpSpPr/>
        <p:nvPr/>
      </p:nvGrpSpPr>
      <p:grpSpPr>
        <a:xfrm>
          <a:off x="0" y="0"/>
          <a:ext cx="0" cy="0"/>
          <a:chOff x="0" y="0"/>
          <a:chExt cx="0" cy="0"/>
        </a:xfrm>
      </p:grpSpPr>
      <p:sp>
        <p:nvSpPr>
          <p:cNvPr id="122" name="PROBLEM STATEMENT">
            <a:extLst>
              <a:ext uri="{FF2B5EF4-FFF2-40B4-BE49-F238E27FC236}">
                <a16:creationId xmlns:a16="http://schemas.microsoft.com/office/drawing/2014/main" id="{E327B75B-C063-8FD0-5512-10E3C9746987}"/>
              </a:ext>
            </a:extLst>
          </p:cNvPr>
          <p:cNvSpPr txBox="1">
            <a:spLocks noGrp="1"/>
          </p:cNvSpPr>
          <p:nvPr>
            <p:ph type="title"/>
          </p:nvPr>
        </p:nvSpPr>
        <p:spPr>
          <a:xfrm>
            <a:off x="1162292" y="121955"/>
            <a:ext cx="10515600" cy="617119"/>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pPr>
              <a:lnSpc>
                <a:spcPts val="7000"/>
              </a:lnSpc>
            </a:pPr>
            <a:r>
              <a:rPr lang="en-GB" b="1" dirty="0">
                <a:latin typeface="Times New Roman Bold"/>
                <a:ea typeface="Times New Roman Bold"/>
                <a:cs typeface="Times New Roman Bold"/>
                <a:sym typeface="Times New Roman Bold"/>
              </a:rPr>
              <a:t>ALGORITHMS </a:t>
            </a:r>
            <a:endParaRPr lang="en-US" b="1" dirty="0">
              <a:latin typeface="Times New Roman Bold"/>
              <a:ea typeface="Times New Roman Bold"/>
              <a:cs typeface="Times New Roman Bold"/>
              <a:sym typeface="Times New Roman Bold"/>
            </a:endParaRPr>
          </a:p>
        </p:txBody>
      </p:sp>
      <p:pic>
        <p:nvPicPr>
          <p:cNvPr id="124" name="Picture 4" descr="Picture 4">
            <a:extLst>
              <a:ext uri="{FF2B5EF4-FFF2-40B4-BE49-F238E27FC236}">
                <a16:creationId xmlns:a16="http://schemas.microsoft.com/office/drawing/2014/main" id="{9A166360-E61C-54EA-CEC0-69AC80EC08EF}"/>
              </a:ext>
            </a:extLst>
          </p:cNvPr>
          <p:cNvPicPr>
            <a:picLocks noChangeAspect="1"/>
          </p:cNvPicPr>
          <p:nvPr/>
        </p:nvPicPr>
        <p:blipFill>
          <a:blip r:embed="rId2"/>
          <a:stretch>
            <a:fillRect/>
          </a:stretch>
        </p:blipFill>
        <p:spPr>
          <a:xfrm>
            <a:off x="1" y="1"/>
            <a:ext cx="1048620" cy="856079"/>
          </a:xfrm>
          <a:prstGeom prst="rect">
            <a:avLst/>
          </a:prstGeom>
          <a:ln w="12700">
            <a:miter lim="400000"/>
          </a:ln>
        </p:spPr>
      </p:pic>
      <p:cxnSp>
        <p:nvCxnSpPr>
          <p:cNvPr id="3" name="Straight Connector 2">
            <a:extLst>
              <a:ext uri="{FF2B5EF4-FFF2-40B4-BE49-F238E27FC236}">
                <a16:creationId xmlns:a16="http://schemas.microsoft.com/office/drawing/2014/main" id="{8E8DE28B-4B54-ADE1-352A-2B4868637795}"/>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7BC73AD8-20B3-43F8-9023-E117E06B7F3F}"/>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5842CF46-5FB8-092B-550B-9C56B76B7768}"/>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4" name="Rectangle 2">
            <a:extLst>
              <a:ext uri="{FF2B5EF4-FFF2-40B4-BE49-F238E27FC236}">
                <a16:creationId xmlns:a16="http://schemas.microsoft.com/office/drawing/2014/main" id="{2DD6C5C7-5B73-E4BD-08FF-DA350375FBBD}"/>
              </a:ext>
            </a:extLst>
          </p:cNvPr>
          <p:cNvSpPr>
            <a:spLocks noGrp="1" noChangeArrowheads="1"/>
          </p:cNvSpPr>
          <p:nvPr>
            <p:ph type="body" idx="1"/>
          </p:nvPr>
        </p:nvSpPr>
        <p:spPr bwMode="auto">
          <a:xfrm>
            <a:off x="439839" y="900281"/>
            <a:ext cx="11238054" cy="5421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b="1" dirty="0">
                <a:latin typeface="Times New Roman" panose="02020603050405020304" pitchFamily="18" charset="0"/>
                <a:cs typeface="Times New Roman" panose="02020603050405020304" pitchFamily="18" charset="0"/>
              </a:rPr>
              <a:t>Random Forest</a:t>
            </a:r>
          </a:p>
          <a:p>
            <a:pPr marL="0" indent="0">
              <a:buNone/>
            </a:pPr>
            <a:r>
              <a:rPr lang="en-US" sz="2400" dirty="0">
                <a:latin typeface="Times New Roman" panose="02020603050405020304" pitchFamily="18" charset="0"/>
                <a:cs typeface="Times New Roman" panose="02020603050405020304" pitchFamily="18" charset="0"/>
              </a:rPr>
              <a:t>Builds many decision trees using the dataset and each tree gives a prediction.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Final result is decided by majority voting, giving high accuracy.</a:t>
            </a:r>
          </a:p>
          <a:p>
            <a:pPr marL="0" indent="0">
              <a:buNone/>
            </a:pPr>
            <a:r>
              <a:rPr lang="en-US" sz="2400" b="1" dirty="0">
                <a:latin typeface="Times New Roman" panose="02020603050405020304" pitchFamily="18" charset="0"/>
                <a:cs typeface="Times New Roman" panose="02020603050405020304" pitchFamily="18" charset="0"/>
              </a:rPr>
              <a:t>Logistic Regression</a:t>
            </a:r>
          </a:p>
          <a:p>
            <a:pPr marL="0" indent="0">
              <a:lnSpc>
                <a:spcPct val="100000"/>
              </a:lnSpc>
              <a:buNone/>
            </a:pPr>
            <a:r>
              <a:rPr lang="en-US" sz="2400" dirty="0">
                <a:latin typeface="Times New Roman" panose="02020603050405020304" pitchFamily="18" charset="0"/>
                <a:cs typeface="Times New Roman" panose="02020603050405020304" pitchFamily="18" charset="0"/>
              </a:rPr>
              <a:t>Calculates probability of stroke occurrence between 0 and 1.</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Based on threshold value, it classifies stroke or non-stroke.</a:t>
            </a:r>
          </a:p>
          <a:p>
            <a:pPr marL="0" indent="0">
              <a:buNone/>
            </a:pPr>
            <a:r>
              <a:rPr lang="en-US" sz="2400" b="1" dirty="0">
                <a:latin typeface="Times New Roman" panose="02020603050405020304" pitchFamily="18" charset="0"/>
                <a:cs typeface="Times New Roman" panose="02020603050405020304" pitchFamily="18" charset="0"/>
              </a:rPr>
              <a:t>Support Vector Machine (SVM)</a:t>
            </a:r>
          </a:p>
          <a:p>
            <a:pPr marL="0" indent="0">
              <a:buNone/>
            </a:pPr>
            <a:r>
              <a:rPr lang="en-US" sz="2400" dirty="0">
                <a:latin typeface="Times New Roman" panose="02020603050405020304" pitchFamily="18" charset="0"/>
                <a:cs typeface="Times New Roman" panose="02020603050405020304" pitchFamily="18" charset="0"/>
              </a:rPr>
              <a:t>Creates an optimal boundary separating stroke and non-stroke data points.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Maximizes distance between the two classes for better classification.</a:t>
            </a:r>
          </a:p>
          <a:p>
            <a:pPr marL="0" indent="0">
              <a:buNone/>
            </a:pPr>
            <a:r>
              <a:rPr lang="en-US" sz="2400" b="1" dirty="0">
                <a:latin typeface="Times New Roman" panose="02020603050405020304" pitchFamily="18" charset="0"/>
                <a:cs typeface="Times New Roman" panose="02020603050405020304" pitchFamily="18" charset="0"/>
              </a:rPr>
              <a:t>K-Nearest Neighbors (KNN)</a:t>
            </a:r>
          </a:p>
          <a:p>
            <a:pPr marL="0" indent="0">
              <a:buNone/>
            </a:pPr>
            <a:r>
              <a:rPr lang="en-US" sz="2400" dirty="0">
                <a:latin typeface="Times New Roman" panose="02020603050405020304" pitchFamily="18" charset="0"/>
                <a:cs typeface="Times New Roman" panose="02020603050405020304" pitchFamily="18" charset="0"/>
              </a:rPr>
              <a:t>Compares a patient’s data with nearest patient records in the dataset.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Prediction is based on majority class among nearest neighbors.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11620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F371C-8BFE-4B49-A87A-78BCF6D9818A}"/>
            </a:ext>
          </a:extLst>
        </p:cNvPr>
        <p:cNvGrpSpPr/>
        <p:nvPr/>
      </p:nvGrpSpPr>
      <p:grpSpPr>
        <a:xfrm>
          <a:off x="0" y="0"/>
          <a:ext cx="0" cy="0"/>
          <a:chOff x="0" y="0"/>
          <a:chExt cx="0" cy="0"/>
        </a:xfrm>
      </p:grpSpPr>
      <p:sp>
        <p:nvSpPr>
          <p:cNvPr id="122" name="PROBLEM STATEMENT">
            <a:extLst>
              <a:ext uri="{FF2B5EF4-FFF2-40B4-BE49-F238E27FC236}">
                <a16:creationId xmlns:a16="http://schemas.microsoft.com/office/drawing/2014/main" id="{B6BC0009-5121-E1A6-0A3D-734974C82DF8}"/>
              </a:ext>
            </a:extLst>
          </p:cNvPr>
          <p:cNvSpPr txBox="1">
            <a:spLocks noGrp="1"/>
          </p:cNvSpPr>
          <p:nvPr>
            <p:ph type="title"/>
          </p:nvPr>
        </p:nvSpPr>
        <p:spPr>
          <a:xfrm>
            <a:off x="1162292" y="121955"/>
            <a:ext cx="10515600" cy="617119"/>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pPr>
              <a:lnSpc>
                <a:spcPts val="7000"/>
              </a:lnSpc>
            </a:pPr>
            <a:r>
              <a:rPr lang="en-GB" b="1" dirty="0">
                <a:latin typeface="Times New Roman Bold"/>
                <a:ea typeface="Times New Roman Bold"/>
                <a:cs typeface="Times New Roman Bold"/>
                <a:sym typeface="Times New Roman Bold"/>
              </a:rPr>
              <a:t>ALGORITHMS </a:t>
            </a:r>
            <a:endParaRPr lang="en-US" b="1" dirty="0">
              <a:latin typeface="Times New Roman Bold"/>
              <a:ea typeface="Times New Roman Bold"/>
              <a:cs typeface="Times New Roman Bold"/>
              <a:sym typeface="Times New Roman Bold"/>
            </a:endParaRPr>
          </a:p>
        </p:txBody>
      </p:sp>
      <p:pic>
        <p:nvPicPr>
          <p:cNvPr id="124" name="Picture 4" descr="Picture 4">
            <a:extLst>
              <a:ext uri="{FF2B5EF4-FFF2-40B4-BE49-F238E27FC236}">
                <a16:creationId xmlns:a16="http://schemas.microsoft.com/office/drawing/2014/main" id="{8B064F27-B60E-51D7-7349-4B3C0D098B36}"/>
              </a:ext>
            </a:extLst>
          </p:cNvPr>
          <p:cNvPicPr>
            <a:picLocks noChangeAspect="1"/>
          </p:cNvPicPr>
          <p:nvPr/>
        </p:nvPicPr>
        <p:blipFill>
          <a:blip r:embed="rId2"/>
          <a:stretch>
            <a:fillRect/>
          </a:stretch>
        </p:blipFill>
        <p:spPr>
          <a:xfrm>
            <a:off x="1" y="1"/>
            <a:ext cx="1048620" cy="856079"/>
          </a:xfrm>
          <a:prstGeom prst="rect">
            <a:avLst/>
          </a:prstGeom>
          <a:ln w="12700">
            <a:miter lim="400000"/>
          </a:ln>
        </p:spPr>
      </p:pic>
      <p:cxnSp>
        <p:nvCxnSpPr>
          <p:cNvPr id="3" name="Straight Connector 2">
            <a:extLst>
              <a:ext uri="{FF2B5EF4-FFF2-40B4-BE49-F238E27FC236}">
                <a16:creationId xmlns:a16="http://schemas.microsoft.com/office/drawing/2014/main" id="{485770C2-4766-979C-E41F-E82C1D089EF6}"/>
              </a:ext>
            </a:extLst>
          </p:cNvPr>
          <p:cNvCxnSpPr>
            <a:cxnSpLocks/>
          </p:cNvCxnSpPr>
          <p:nvPr/>
        </p:nvCxnSpPr>
        <p:spPr>
          <a:xfrm>
            <a:off x="0" y="9068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6" name="Straight Connector 5">
            <a:extLst>
              <a:ext uri="{FF2B5EF4-FFF2-40B4-BE49-F238E27FC236}">
                <a16:creationId xmlns:a16="http://schemas.microsoft.com/office/drawing/2014/main" id="{4A54E621-D402-180E-DE5D-B7FD9B356E35}"/>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7" name="TextBox 6">
            <a:extLst>
              <a:ext uri="{FF2B5EF4-FFF2-40B4-BE49-F238E27FC236}">
                <a16:creationId xmlns:a16="http://schemas.microsoft.com/office/drawing/2014/main" id="{4214B71A-C1CA-D6EF-93C1-48D56B1A20D8}"/>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4" name="Rectangle 2">
            <a:extLst>
              <a:ext uri="{FF2B5EF4-FFF2-40B4-BE49-F238E27FC236}">
                <a16:creationId xmlns:a16="http://schemas.microsoft.com/office/drawing/2014/main" id="{0AD502D7-F56D-2E9E-5C16-20B48C6B5FB4}"/>
              </a:ext>
            </a:extLst>
          </p:cNvPr>
          <p:cNvSpPr>
            <a:spLocks noGrp="1" noChangeArrowheads="1"/>
          </p:cNvSpPr>
          <p:nvPr>
            <p:ph type="body" idx="1"/>
          </p:nvPr>
        </p:nvSpPr>
        <p:spPr bwMode="auto">
          <a:xfrm>
            <a:off x="439839" y="1748718"/>
            <a:ext cx="11238054" cy="372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b="1" dirty="0">
                <a:latin typeface="Times New Roman" panose="02020603050405020304" pitchFamily="18" charset="0"/>
                <a:cs typeface="Times New Roman" panose="02020603050405020304" pitchFamily="18" charset="0"/>
              </a:rPr>
              <a:t>Naive Bayes</a:t>
            </a:r>
          </a:p>
          <a:p>
            <a:pPr marL="0" indent="0">
              <a:buNone/>
            </a:pPr>
            <a:r>
              <a:rPr lang="en-US" sz="2400" dirty="0">
                <a:latin typeface="Times New Roman" panose="02020603050405020304" pitchFamily="18" charset="0"/>
                <a:cs typeface="Times New Roman" panose="02020603050405020304" pitchFamily="18" charset="0"/>
              </a:rPr>
              <a:t>Uses probability rules assuming features are independent.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Predicts stroke based on likelihood from past data patterns.</a:t>
            </a:r>
          </a:p>
          <a:p>
            <a:r>
              <a:rPr lang="en-US" sz="2400" b="1" dirty="0" err="1">
                <a:latin typeface="Times New Roman" panose="02020603050405020304" pitchFamily="18" charset="0"/>
                <a:cs typeface="Times New Roman" panose="02020603050405020304" pitchFamily="18" charset="0"/>
              </a:rPr>
              <a:t>XGBoost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Builds models sequentially where each new model corrects previous errors.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Provides strong prediction performance for complex datasets.</a:t>
            </a:r>
          </a:p>
          <a:p>
            <a:r>
              <a:rPr lang="en-US" sz="2400" b="1" dirty="0" err="1">
                <a:latin typeface="Times New Roman" panose="02020603050405020304" pitchFamily="18" charset="0"/>
                <a:cs typeface="Times New Roman" panose="02020603050405020304" pitchFamily="18" charset="0"/>
              </a:rPr>
              <a:t>CatBoost</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Specially handles categorical medical features efficiently.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Improves accuracy by combining multiple weak learners into a strong model.</a:t>
            </a:r>
          </a:p>
        </p:txBody>
      </p:sp>
    </p:spTree>
    <p:extLst>
      <p:ext uri="{BB962C8B-B14F-4D97-AF65-F5344CB8AC3E}">
        <p14:creationId xmlns:p14="http://schemas.microsoft.com/office/powerpoint/2010/main" val="402571395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QUIREMENT SPECIFICATIONS"/>
          <p:cNvSpPr txBox="1">
            <a:spLocks noGrp="1"/>
          </p:cNvSpPr>
          <p:nvPr>
            <p:ph type="title"/>
          </p:nvPr>
        </p:nvSpPr>
        <p:spPr>
          <a:xfrm>
            <a:off x="838200" y="0"/>
            <a:ext cx="10515600" cy="863600"/>
          </a:xfrm>
          <a:prstGeom prst="rect">
            <a:avLst/>
          </a:prstGeom>
        </p:spPr>
        <p:txBody>
          <a:bodyPr/>
          <a:lstStyle>
            <a:lvl1pPr marL="203454" indent="-203454" algn="ctr" defTabSz="813816">
              <a:lnSpc>
                <a:spcPct val="100000"/>
              </a:lnSpc>
              <a:spcBef>
                <a:spcPts val="800"/>
              </a:spcBef>
              <a:buSzPct val="100000"/>
              <a:buFont typeface="Arial"/>
              <a:buChar char="•"/>
              <a:defRPr sz="3916">
                <a:latin typeface="Times New Roman"/>
                <a:ea typeface="Times New Roman"/>
                <a:cs typeface="Times New Roman"/>
                <a:sym typeface="Times New Roman"/>
              </a:defRPr>
            </a:lvl1pPr>
          </a:lstStyle>
          <a:p>
            <a:pPr marL="0" indent="0">
              <a:buNone/>
            </a:pPr>
            <a:r>
              <a:rPr b="1"/>
              <a:t>REQUIREMENT SPECIFICATIONS</a:t>
            </a:r>
          </a:p>
        </p:txBody>
      </p:sp>
      <p:sp>
        <p:nvSpPr>
          <p:cNvPr id="127" name="Double-click to edit"/>
          <p:cNvSpPr txBox="1">
            <a:spLocks noGrp="1"/>
          </p:cNvSpPr>
          <p:nvPr>
            <p:ph type="body" idx="1"/>
          </p:nvPr>
        </p:nvSpPr>
        <p:spPr>
          <a:xfrm>
            <a:off x="838199" y="1825624"/>
            <a:ext cx="11110809" cy="4914359"/>
          </a:xfrm>
          <a:prstGeom prst="rect">
            <a:avLst/>
          </a:prstGeom>
        </p:spPr>
        <p:txBody>
          <a:bodyPr>
            <a:normAutofit/>
          </a:bodyPr>
          <a:lstStyle/>
          <a:p>
            <a:pPr marL="0" indent="0">
              <a:buNone/>
            </a:pPr>
            <a:endParaRPr lang="en-IN" b="1"/>
          </a:p>
          <a:p>
            <a:pPr marL="0" indent="0">
              <a:buNone/>
            </a:pPr>
            <a:endParaRPr/>
          </a:p>
        </p:txBody>
      </p:sp>
      <p:pic>
        <p:nvPicPr>
          <p:cNvPr id="128" name="Picture 4" descr="Picture 4"/>
          <p:cNvPicPr>
            <a:picLocks noChangeAspect="1"/>
          </p:cNvPicPr>
          <p:nvPr/>
        </p:nvPicPr>
        <p:blipFill>
          <a:blip r:embed="rId2"/>
          <a:stretch>
            <a:fillRect/>
          </a:stretch>
        </p:blipFill>
        <p:spPr>
          <a:xfrm>
            <a:off x="1" y="1"/>
            <a:ext cx="1026159" cy="863600"/>
          </a:xfrm>
          <a:prstGeom prst="rect">
            <a:avLst/>
          </a:prstGeom>
          <a:ln w="12700">
            <a:miter lim="400000"/>
          </a:ln>
        </p:spPr>
      </p:pic>
      <p:sp>
        <p:nvSpPr>
          <p:cNvPr id="4" name="TextBox 3">
            <a:extLst>
              <a:ext uri="{FF2B5EF4-FFF2-40B4-BE49-F238E27FC236}">
                <a16:creationId xmlns:a16="http://schemas.microsoft.com/office/drawing/2014/main" id="{2E5D0B87-6AAA-5447-8CA7-9F4D8720306B}"/>
              </a:ext>
            </a:extLst>
          </p:cNvPr>
          <p:cNvSpPr txBox="1"/>
          <p:nvPr/>
        </p:nvSpPr>
        <p:spPr>
          <a:xfrm>
            <a:off x="818727" y="1126540"/>
            <a:ext cx="4931834" cy="4893647"/>
          </a:xfrm>
          <a:prstGeom prst="rect">
            <a:avLst/>
          </a:prstGeom>
          <a:solidFill>
            <a:srgbClr val="FFFFFF"/>
          </a:solidFill>
          <a:ln w="79375"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buNone/>
            </a:pPr>
            <a:r>
              <a:rPr lang="en-IN" sz="2400" b="1">
                <a:latin typeface="Times New Roman" panose="02020603050405020304" pitchFamily="18" charset="0"/>
                <a:cs typeface="Times New Roman" panose="02020603050405020304" pitchFamily="18" charset="0"/>
              </a:rPr>
              <a:t> Hardware Requirements:</a:t>
            </a:r>
          </a:p>
          <a:p>
            <a:pPr>
              <a:buNone/>
            </a:pPr>
            <a:r>
              <a:rPr lang="en-IN" sz="2400" b="1">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A high-performance computer is required for model training.</a:t>
            </a:r>
          </a:p>
          <a:p>
            <a:pPr marL="457200" indent="-457200">
              <a:buFont typeface="Arial" panose="020B0604020202020204" pitchFamily="34" charset="0"/>
              <a:buChar char="•"/>
            </a:pPr>
            <a:r>
              <a:rPr lang="en-IN" sz="2400" b="1">
                <a:latin typeface="Times New Roman" panose="02020603050405020304" pitchFamily="18" charset="0"/>
                <a:cs typeface="Times New Roman" panose="02020603050405020304" pitchFamily="18" charset="0"/>
              </a:rPr>
              <a:t>Processor</a:t>
            </a:r>
            <a:r>
              <a:rPr lang="en-IN" sz="2400">
                <a:latin typeface="Times New Roman" panose="02020603050405020304" pitchFamily="18" charset="0"/>
                <a:cs typeface="Times New Roman" panose="02020603050405020304" pitchFamily="18" charset="0"/>
              </a:rPr>
              <a:t>: </a:t>
            </a:r>
            <a:r>
              <a:rPr lang="en-IN" sz="2400"/>
              <a:t>Intel i3(min)</a:t>
            </a:r>
            <a:r>
              <a:rPr lang="en-IN" sz="240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IN" sz="2400" b="1">
                <a:latin typeface="Times New Roman" panose="02020603050405020304" pitchFamily="18" charset="0"/>
                <a:cs typeface="Times New Roman" panose="02020603050405020304" pitchFamily="18" charset="0"/>
              </a:rPr>
              <a:t>RAM</a:t>
            </a:r>
            <a:r>
              <a:rPr lang="en-IN" sz="2400">
                <a:latin typeface="Times New Roman" panose="02020603050405020304" pitchFamily="18" charset="0"/>
                <a:cs typeface="Times New Roman" panose="02020603050405020304" pitchFamily="18" charset="0"/>
              </a:rPr>
              <a:t>: Minimum 4 GB (16 GB recommended)</a:t>
            </a:r>
          </a:p>
          <a:p>
            <a:pPr marL="457200" indent="-457200">
              <a:buFont typeface="Arial" panose="020B0604020202020204" pitchFamily="34" charset="0"/>
              <a:buChar char="•"/>
            </a:pPr>
            <a:r>
              <a:rPr lang="en-IN" sz="2400" b="1">
                <a:latin typeface="Times New Roman" panose="02020603050405020304" pitchFamily="18" charset="0"/>
                <a:cs typeface="Times New Roman" panose="02020603050405020304" pitchFamily="18" charset="0"/>
              </a:rPr>
              <a:t>GPU</a:t>
            </a:r>
            <a:r>
              <a:rPr lang="en-IN" sz="2400">
                <a:latin typeface="Times New Roman" panose="02020603050405020304" pitchFamily="18" charset="0"/>
                <a:cs typeface="Times New Roman" panose="02020603050405020304" pitchFamily="18" charset="0"/>
              </a:rPr>
              <a:t>: NVIDIA GPU (optional but recommended for Machine learning) </a:t>
            </a:r>
          </a:p>
          <a:p>
            <a:pPr marL="457200" indent="-457200">
              <a:buFont typeface="Arial" panose="020B0604020202020204" pitchFamily="34" charset="0"/>
              <a:buChar char="•"/>
            </a:pPr>
            <a:r>
              <a:rPr lang="en-IN" sz="2400" b="1">
                <a:latin typeface="Times New Roman" panose="02020603050405020304" pitchFamily="18" charset="0"/>
                <a:cs typeface="Times New Roman" panose="02020603050405020304" pitchFamily="18" charset="0"/>
              </a:rPr>
              <a:t>Display</a:t>
            </a:r>
            <a:r>
              <a:rPr lang="en-IN" sz="2400">
                <a:latin typeface="Times New Roman" panose="02020603050405020304" pitchFamily="18" charset="0"/>
                <a:cs typeface="Times New Roman" panose="02020603050405020304" pitchFamily="18" charset="0"/>
              </a:rPr>
              <a:t>: Standard monitor for visualization</a:t>
            </a:r>
          </a:p>
          <a:p>
            <a:pPr>
              <a:buNone/>
            </a:pPr>
            <a:r>
              <a:rPr lang="en-IN" sz="2400">
                <a:latin typeface="Times New Roman" panose="02020603050405020304" pitchFamily="18" charset="0"/>
                <a:cs typeface="Times New Roman" panose="02020603050405020304" pitchFamily="18" charset="0"/>
              </a:rPr>
              <a:t>      Stable internet connection for dataset access</a:t>
            </a:r>
          </a:p>
        </p:txBody>
      </p:sp>
      <p:cxnSp>
        <p:nvCxnSpPr>
          <p:cNvPr id="6" name="Straight Connector 5">
            <a:extLst>
              <a:ext uri="{FF2B5EF4-FFF2-40B4-BE49-F238E27FC236}">
                <a16:creationId xmlns:a16="http://schemas.microsoft.com/office/drawing/2014/main" id="{CF413612-D18D-0823-1075-729F82ABF662}"/>
              </a:ext>
            </a:extLst>
          </p:cNvPr>
          <p:cNvCxnSpPr>
            <a:cxnSpLocks/>
          </p:cNvCxnSpPr>
          <p:nvPr/>
        </p:nvCxnSpPr>
        <p:spPr>
          <a:xfrm flipV="1">
            <a:off x="-1" y="863600"/>
            <a:ext cx="12192000" cy="8128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12" name="Straight Connector 11">
            <a:extLst>
              <a:ext uri="{FF2B5EF4-FFF2-40B4-BE49-F238E27FC236}">
                <a16:creationId xmlns:a16="http://schemas.microsoft.com/office/drawing/2014/main" id="{5ECD9399-7825-D89F-D035-95E9B2B70ED4}"/>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B3788A1D-8828-D934-AB03-5DA77DCDC9FE}"/>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14" name="Text Placeholder 2">
            <a:extLst>
              <a:ext uri="{FF2B5EF4-FFF2-40B4-BE49-F238E27FC236}">
                <a16:creationId xmlns:a16="http://schemas.microsoft.com/office/drawing/2014/main" id="{C1BABC9D-4D22-6EC7-266A-273A204CE5D5}"/>
              </a:ext>
            </a:extLst>
          </p:cNvPr>
          <p:cNvSpPr txBox="1">
            <a:spLocks/>
          </p:cNvSpPr>
          <p:nvPr/>
        </p:nvSpPr>
        <p:spPr>
          <a:xfrm>
            <a:off x="6339840" y="1126539"/>
            <a:ext cx="5384800" cy="5050838"/>
          </a:xfrm>
          <a:prstGeom prst="rect">
            <a:avLst/>
          </a:prstGeom>
          <a:solidFill>
            <a:srgbClr val="FFFFFF"/>
          </a:solidFill>
          <a:ln w="79375">
            <a:solidFill>
              <a:schemeClr val="accent1">
                <a:lumMod val="60000"/>
                <a:lumOff val="40000"/>
              </a:schemeClr>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a:lstStyle>
          <a:p>
            <a:pPr marL="0" indent="0" hangingPunct="1">
              <a:buFont typeface="Arial"/>
              <a:buNone/>
            </a:pPr>
            <a:r>
              <a:rPr lang="en-IN" sz="2400" b="1">
                <a:latin typeface="Times New Roman" panose="02020603050405020304" pitchFamily="18" charset="0"/>
                <a:cs typeface="Times New Roman" panose="02020603050405020304" pitchFamily="18" charset="0"/>
              </a:rPr>
              <a:t> Software Requirements:</a:t>
            </a:r>
          </a:p>
          <a:p>
            <a:pPr hangingPunct="1"/>
            <a:r>
              <a:rPr lang="en-IN" sz="2400" b="1">
                <a:latin typeface="Times New Roman" panose="02020603050405020304" pitchFamily="18" charset="0"/>
                <a:cs typeface="Times New Roman" panose="02020603050405020304" pitchFamily="18" charset="0"/>
              </a:rPr>
              <a:t>Operating System</a:t>
            </a:r>
            <a:r>
              <a:rPr lang="en-IN" sz="2400">
                <a:latin typeface="Times New Roman" panose="02020603050405020304" pitchFamily="18" charset="0"/>
                <a:cs typeface="Times New Roman" panose="02020603050405020304" pitchFamily="18" charset="0"/>
              </a:rPr>
              <a:t>: Windows 10</a:t>
            </a:r>
          </a:p>
          <a:p>
            <a:pPr hangingPunct="1"/>
            <a:r>
              <a:rPr lang="en-IN" sz="2400" b="1">
                <a:latin typeface="Times New Roman" panose="02020603050405020304" pitchFamily="18" charset="0"/>
                <a:cs typeface="Times New Roman" panose="02020603050405020304" pitchFamily="18" charset="0"/>
              </a:rPr>
              <a:t>Programming Language</a:t>
            </a:r>
            <a:r>
              <a:rPr lang="en-IN" sz="2400">
                <a:latin typeface="Times New Roman" panose="02020603050405020304" pitchFamily="18" charset="0"/>
                <a:cs typeface="Times New Roman" panose="02020603050405020304" pitchFamily="18" charset="0"/>
              </a:rPr>
              <a:t>: Python 3.x</a:t>
            </a:r>
          </a:p>
          <a:p>
            <a:pPr hangingPunct="1"/>
            <a:r>
              <a:rPr lang="en-IN" sz="2400" b="1">
                <a:latin typeface="Times New Roman" panose="02020603050405020304" pitchFamily="18" charset="0"/>
                <a:cs typeface="Times New Roman" panose="02020603050405020304" pitchFamily="18" charset="0"/>
              </a:rPr>
              <a:t>Machine Learning Libraries</a:t>
            </a:r>
            <a:r>
              <a:rPr lang="en-IN" sz="2400">
                <a:latin typeface="Times New Roman" panose="02020603050405020304" pitchFamily="18" charset="0"/>
                <a:cs typeface="Times New Roman" panose="02020603050405020304" pitchFamily="18" charset="0"/>
              </a:rPr>
              <a:t>: </a:t>
            </a:r>
            <a:r>
              <a:rPr lang="en-IN" sz="2400" err="1">
                <a:latin typeface="Times New Roman" panose="02020603050405020304" pitchFamily="18" charset="0"/>
                <a:cs typeface="Times New Roman" panose="02020603050405020304" pitchFamily="18" charset="0"/>
              </a:rPr>
              <a:t>sklearn</a:t>
            </a:r>
            <a:r>
              <a:rPr lang="en-IN" sz="2400">
                <a:latin typeface="Times New Roman" panose="02020603050405020304" pitchFamily="18" charset="0"/>
                <a:cs typeface="Times New Roman" panose="02020603050405020304" pitchFamily="18" charset="0"/>
              </a:rPr>
              <a:t>, </a:t>
            </a:r>
            <a:r>
              <a:rPr lang="en-IN" sz="2400" err="1">
                <a:latin typeface="Times New Roman" panose="02020603050405020304" pitchFamily="18" charset="0"/>
                <a:cs typeface="Times New Roman" panose="02020603050405020304" pitchFamily="18" charset="0"/>
              </a:rPr>
              <a:t>XGBoost</a:t>
            </a:r>
            <a:r>
              <a:rPr lang="en-IN" sz="2400">
                <a:latin typeface="Times New Roman" panose="02020603050405020304" pitchFamily="18" charset="0"/>
                <a:cs typeface="Times New Roman" panose="02020603050405020304" pitchFamily="18" charset="0"/>
              </a:rPr>
              <a:t>, </a:t>
            </a:r>
            <a:r>
              <a:rPr lang="en-IN" sz="2400" err="1">
                <a:latin typeface="Times New Roman" panose="02020603050405020304" pitchFamily="18" charset="0"/>
                <a:cs typeface="Times New Roman" panose="02020603050405020304" pitchFamily="18" charset="0"/>
              </a:rPr>
              <a:t>tkinter</a:t>
            </a:r>
            <a:r>
              <a:rPr lang="en-IN" sz="2400">
                <a:latin typeface="Times New Roman" panose="02020603050405020304" pitchFamily="18" charset="0"/>
                <a:cs typeface="Times New Roman" panose="02020603050405020304" pitchFamily="18" charset="0"/>
              </a:rPr>
              <a:t>, </a:t>
            </a:r>
            <a:r>
              <a:rPr lang="en-IN" sz="2400" err="1">
                <a:latin typeface="Times New Roman" panose="02020603050405020304" pitchFamily="18" charset="0"/>
                <a:cs typeface="Times New Roman" panose="02020603050405020304" pitchFamily="18" charset="0"/>
              </a:rPr>
              <a:t>catboost</a:t>
            </a:r>
            <a:endParaRPr lang="en-IN" sz="2400">
              <a:latin typeface="Times New Roman" panose="02020603050405020304" pitchFamily="18" charset="0"/>
              <a:cs typeface="Times New Roman" panose="02020603050405020304" pitchFamily="18" charset="0"/>
            </a:endParaRPr>
          </a:p>
          <a:p>
            <a:pPr hangingPunct="1"/>
            <a:r>
              <a:rPr lang="en-IN" sz="2400" b="1">
                <a:latin typeface="Times New Roman" panose="02020603050405020304" pitchFamily="18" charset="0"/>
                <a:cs typeface="Times New Roman" panose="02020603050405020304" pitchFamily="18" charset="0"/>
              </a:rPr>
              <a:t>Data Processing</a:t>
            </a:r>
            <a:r>
              <a:rPr lang="en-IN" sz="2400">
                <a:latin typeface="Times New Roman" panose="02020603050405020304" pitchFamily="18" charset="0"/>
                <a:cs typeface="Times New Roman" panose="02020603050405020304" pitchFamily="18" charset="0"/>
              </a:rPr>
              <a:t>: NumPy, Pandas, Scikit-learn</a:t>
            </a:r>
            <a:r>
              <a:rPr lang="en-IN" sz="2400"/>
              <a:t>.</a:t>
            </a:r>
            <a:endParaRPr lang="en-IN" sz="2400">
              <a:latin typeface="Times New Roman" panose="02020603050405020304" pitchFamily="18" charset="0"/>
              <a:cs typeface="Times New Roman" panose="02020603050405020304" pitchFamily="18" charset="0"/>
            </a:endParaRPr>
          </a:p>
          <a:p>
            <a:pPr hangingPunct="1"/>
            <a:r>
              <a:rPr lang="en-IN" sz="2400" b="1">
                <a:latin typeface="Times New Roman" panose="02020603050405020304" pitchFamily="18" charset="0"/>
                <a:cs typeface="Times New Roman" panose="02020603050405020304" pitchFamily="18" charset="0"/>
              </a:rPr>
              <a:t>Backend Framework</a:t>
            </a:r>
            <a:r>
              <a:rPr lang="en-IN" sz="2400">
                <a:latin typeface="Times New Roman" panose="02020603050405020304" pitchFamily="18" charset="0"/>
                <a:cs typeface="Times New Roman" panose="02020603050405020304" pitchFamily="18" charset="0"/>
              </a:rPr>
              <a:t>: Flask </a:t>
            </a:r>
          </a:p>
          <a:p>
            <a:pPr hangingPunct="1"/>
            <a:r>
              <a:rPr lang="en-IN" sz="2400" b="1">
                <a:latin typeface="Times New Roman" panose="02020603050405020304" pitchFamily="18" charset="0"/>
                <a:cs typeface="Times New Roman" panose="02020603050405020304" pitchFamily="18" charset="0"/>
              </a:rPr>
              <a:t>Development Tools</a:t>
            </a:r>
            <a:r>
              <a:rPr lang="en-IN" sz="2400">
                <a:latin typeface="Times New Roman" panose="02020603050405020304" pitchFamily="18" charset="0"/>
                <a:cs typeface="Times New Roman" panose="02020603050405020304" pitchFamily="18" charset="0"/>
              </a:rPr>
              <a:t>: VS Code</a:t>
            </a:r>
          </a:p>
          <a:p>
            <a:pPr hangingPunct="1"/>
            <a:endParaRPr lang="en-IN" sz="2400"/>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YSTEM DESIGN"/>
          <p:cNvSpPr txBox="1">
            <a:spLocks noGrp="1"/>
          </p:cNvSpPr>
          <p:nvPr>
            <p:ph type="title"/>
          </p:nvPr>
        </p:nvSpPr>
        <p:spPr>
          <a:xfrm>
            <a:off x="838200" y="193040"/>
            <a:ext cx="10515600" cy="508000"/>
          </a:xfrm>
          <a:prstGeom prst="rect">
            <a:avLst/>
          </a:prstGeom>
        </p:spPr>
        <p:txBody>
          <a:bodyPr>
            <a:normAutofit fontScale="90000"/>
          </a:bodyPr>
          <a:lstStyle/>
          <a:p>
            <a:pPr lvl="3" algn="ctr">
              <a:defRPr>
                <a:latin typeface="Times New Roman"/>
                <a:ea typeface="Times New Roman"/>
                <a:cs typeface="Times New Roman"/>
                <a:sym typeface="Times New Roman"/>
              </a:defRPr>
            </a:pPr>
            <a:r>
              <a:rPr b="1"/>
              <a:t>SYSTEM DESIGN </a:t>
            </a:r>
          </a:p>
        </p:txBody>
      </p:sp>
      <p:pic>
        <p:nvPicPr>
          <p:cNvPr id="132" name="Picture 4" descr="Picture 4"/>
          <p:cNvPicPr>
            <a:picLocks noChangeAspect="1"/>
          </p:cNvPicPr>
          <p:nvPr/>
        </p:nvPicPr>
        <p:blipFill>
          <a:blip r:embed="rId2"/>
          <a:stretch>
            <a:fillRect/>
          </a:stretch>
        </p:blipFill>
        <p:spPr>
          <a:xfrm>
            <a:off x="1" y="1"/>
            <a:ext cx="1127760" cy="701040"/>
          </a:xfrm>
          <a:prstGeom prst="rect">
            <a:avLst/>
          </a:prstGeom>
          <a:ln w="12700">
            <a:miter lim="400000"/>
          </a:ln>
        </p:spPr>
      </p:pic>
      <p:cxnSp>
        <p:nvCxnSpPr>
          <p:cNvPr id="5" name="Straight Connector 4">
            <a:extLst>
              <a:ext uri="{FF2B5EF4-FFF2-40B4-BE49-F238E27FC236}">
                <a16:creationId xmlns:a16="http://schemas.microsoft.com/office/drawing/2014/main" id="{F0B93E2A-CAC4-382F-FBD8-763A1F36030E}"/>
              </a:ext>
            </a:extLst>
          </p:cNvPr>
          <p:cNvCxnSpPr>
            <a:cxnSpLocks/>
          </p:cNvCxnSpPr>
          <p:nvPr/>
        </p:nvCxnSpPr>
        <p:spPr>
          <a:xfrm flipV="1">
            <a:off x="10160" y="741582"/>
            <a:ext cx="12191999" cy="8128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8" name="Straight Connector 7">
            <a:extLst>
              <a:ext uri="{FF2B5EF4-FFF2-40B4-BE49-F238E27FC236}">
                <a16:creationId xmlns:a16="http://schemas.microsoft.com/office/drawing/2014/main" id="{C19BFF36-4999-4A2C-D040-0C28F140C121}"/>
              </a:ext>
            </a:extLst>
          </p:cNvPr>
          <p:cNvCxnSpPr>
            <a:cxnSpLocks/>
          </p:cNvCxnSpPr>
          <p:nvPr/>
        </p:nvCxnSpPr>
        <p:spPr>
          <a:xfrm>
            <a:off x="0" y="643128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9" name="TextBox 8">
            <a:extLst>
              <a:ext uri="{FF2B5EF4-FFF2-40B4-BE49-F238E27FC236}">
                <a16:creationId xmlns:a16="http://schemas.microsoft.com/office/drawing/2014/main" id="{39B57C9D-3873-A932-BAF1-76AE97825289}"/>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
        <p:nvSpPr>
          <p:cNvPr id="10" name="TextBox 9">
            <a:extLst>
              <a:ext uri="{FF2B5EF4-FFF2-40B4-BE49-F238E27FC236}">
                <a16:creationId xmlns:a16="http://schemas.microsoft.com/office/drawing/2014/main" id="{45C2D1D1-6336-0EE3-950F-CD16DE3363FA}"/>
              </a:ext>
            </a:extLst>
          </p:cNvPr>
          <p:cNvSpPr txBox="1"/>
          <p:nvPr/>
        </p:nvSpPr>
        <p:spPr>
          <a:xfrm>
            <a:off x="5801031" y="1088559"/>
            <a:ext cx="6037007" cy="4955203"/>
          </a:xfrm>
          <a:prstGeom prst="rect">
            <a:avLst/>
          </a:prstGeom>
          <a:solidFill>
            <a:srgbClr val="FFFFFF"/>
          </a:solidFill>
          <a:ln w="79375" cap="flat">
            <a:solidFill>
              <a:schemeClr val="accent1">
                <a:lumMod val="60000"/>
                <a:lumOff val="4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indent="-3429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Dataset is loaded into the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preprocessed and cleaned.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Imbalanced data is balanced using SMOTE.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Important features are selected and cleaned.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Multiple machine learning algorithms are trained.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Models are tested using the same dataset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Performance metrics like accuracy are calculated.</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Algorithms are compared to find the best model.</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Results are shown in graphical charts.</a:t>
            </a:r>
          </a:p>
        </p:txBody>
      </p:sp>
      <p:sp>
        <p:nvSpPr>
          <p:cNvPr id="13" name="TextBox 12">
            <a:extLst>
              <a:ext uri="{FF2B5EF4-FFF2-40B4-BE49-F238E27FC236}">
                <a16:creationId xmlns:a16="http://schemas.microsoft.com/office/drawing/2014/main" id="{B078FB12-2D8A-280C-FCE7-784955F2258B}"/>
              </a:ext>
            </a:extLst>
          </p:cNvPr>
          <p:cNvSpPr txBox="1"/>
          <p:nvPr/>
        </p:nvSpPr>
        <p:spPr>
          <a:xfrm>
            <a:off x="193040" y="6035040"/>
            <a:ext cx="4927600"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IN" sz="1800" b="1"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Calibri"/>
              </a:rPr>
              <a:t>Figure:</a:t>
            </a:r>
            <a:r>
              <a:rPr kumimoji="0" lang="en-IN" sz="1800" b="0" i="0" u="none" strike="noStrike" cap="none" spc="0" normalizeH="0" baseline="0">
                <a:ln>
                  <a:noFill/>
                </a:ln>
                <a:solidFill>
                  <a:srgbClr val="000000"/>
                </a:solidFill>
                <a:effectLst/>
                <a:uFillTx/>
                <a:latin typeface="Times New Roman" panose="02020603050405020304" pitchFamily="18" charset="0"/>
                <a:cs typeface="Times New Roman" panose="02020603050405020304" pitchFamily="18" charset="0"/>
                <a:sym typeface="Calibri"/>
              </a:rPr>
              <a:t>  System architecture</a:t>
            </a:r>
          </a:p>
        </p:txBody>
      </p:sp>
      <p:pic>
        <p:nvPicPr>
          <p:cNvPr id="2050" name="Picture 2">
            <a:extLst>
              <a:ext uri="{FF2B5EF4-FFF2-40B4-BE49-F238E27FC236}">
                <a16:creationId xmlns:a16="http://schemas.microsoft.com/office/drawing/2014/main" id="{E840854C-E92D-3680-9B92-31058F21EB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9" y="1036320"/>
            <a:ext cx="5790871" cy="48768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IMPLEMENTATION"/>
          <p:cNvSpPr txBox="1">
            <a:spLocks noGrp="1"/>
          </p:cNvSpPr>
          <p:nvPr>
            <p:ph type="title"/>
          </p:nvPr>
        </p:nvSpPr>
        <p:spPr>
          <a:xfrm>
            <a:off x="838200" y="165153"/>
            <a:ext cx="10515600" cy="810208"/>
          </a:xfrm>
          <a:prstGeom prst="rect">
            <a:avLst/>
          </a:prstGeom>
        </p:spPr>
        <p:txBody>
          <a:bodyPr>
            <a:normAutofit/>
          </a:bodyPr>
          <a:lstStyle>
            <a:lvl1pPr algn="ctr">
              <a:defRPr>
                <a:latin typeface="Times New Roman"/>
                <a:ea typeface="Times New Roman"/>
                <a:cs typeface="Times New Roman"/>
                <a:sym typeface="Times New Roman"/>
              </a:defRPr>
            </a:lvl1pPr>
          </a:lstStyle>
          <a:p>
            <a:r>
              <a:rPr sz="4000" b="1"/>
              <a:t>IMPLEMENTATION</a:t>
            </a:r>
          </a:p>
        </p:txBody>
      </p:sp>
      <p:sp>
        <p:nvSpPr>
          <p:cNvPr id="136" name="Data Collection &amp; Preprocessing : Gather clinical text and ICD-10 codes.…"/>
          <p:cNvSpPr txBox="1">
            <a:spLocks noGrp="1"/>
          </p:cNvSpPr>
          <p:nvPr>
            <p:ph type="body" sz="half" idx="1"/>
          </p:nvPr>
        </p:nvSpPr>
        <p:spPr>
          <a:xfrm>
            <a:off x="243840" y="1427587"/>
            <a:ext cx="11612880" cy="5016720"/>
          </a:xfrm>
          <a:prstGeom prst="rect">
            <a:avLst/>
          </a:prstGeom>
        </p:spPr>
        <p:txBody>
          <a:bodyPr>
            <a:normAutofit/>
          </a:bodyPr>
          <a:lstStyle/>
          <a:p>
            <a:pPr algn="just"/>
            <a:r>
              <a:rPr lang="en-US" sz="2400" b="1" dirty="0">
                <a:latin typeface="Times New Roman" panose="02020603050405020304" pitchFamily="18" charset="0"/>
                <a:cs typeface="Times New Roman" panose="02020603050405020304" pitchFamily="18" charset="0"/>
              </a:rPr>
              <a:t>Data Collection:</a:t>
            </a:r>
          </a:p>
          <a:p>
            <a:pPr marL="495300" lvl="1" indent="0" algn="just">
              <a:buNone/>
            </a:pPr>
            <a:r>
              <a:rPr lang="en-US" sz="2400" dirty="0">
                <a:latin typeface="Times New Roman" panose="02020603050405020304" pitchFamily="18" charset="0"/>
                <a:cs typeface="Times New Roman" panose="02020603050405020304" pitchFamily="18" charset="0"/>
              </a:rPr>
              <a:t>The dataset consists of </a:t>
            </a:r>
            <a:r>
              <a:rPr lang="en-US" sz="2400" b="1" dirty="0">
                <a:latin typeface="Times New Roman" panose="02020603050405020304" pitchFamily="18" charset="0"/>
                <a:cs typeface="Times New Roman" panose="02020603050405020304" pitchFamily="18" charset="0"/>
              </a:rPr>
              <a:t>5,110 patient samples with 12 medical features</a:t>
            </a:r>
            <a:r>
              <a:rPr lang="en-US" sz="2400" dirty="0">
                <a:latin typeface="Times New Roman" panose="02020603050405020304" pitchFamily="18" charset="0"/>
                <a:cs typeface="Times New Roman" panose="02020603050405020304" pitchFamily="18" charset="0"/>
              </a:rPr>
              <a:t>, used to train and test machine learning algorithms for stroke prediction accuracy comparison . this  stroke healthcare dataset is collected from Kaggle, which contains patient medical details such as age, BMI, glucose level and other health conditions along with stroke outcome.</a:t>
            </a:r>
          </a:p>
          <a:p>
            <a:pPr algn="just"/>
            <a:r>
              <a:rPr lang="en-US" sz="2400" b="1" dirty="0">
                <a:latin typeface="Times New Roman" panose="02020603050405020304" pitchFamily="18" charset="0"/>
                <a:cs typeface="Times New Roman" panose="02020603050405020304" pitchFamily="18" charset="0"/>
              </a:rPr>
              <a:t>Data Pre-processing:</a:t>
            </a:r>
          </a:p>
          <a:p>
            <a:pPr marL="495300" lvl="1" indent="0" algn="just">
              <a:buNone/>
            </a:pPr>
            <a:r>
              <a:rPr lang="en-US" sz="2400" dirty="0">
                <a:latin typeface="Times New Roman" panose="02020603050405020304" pitchFamily="18" charset="0"/>
                <a:cs typeface="Times New Roman" panose="02020603050405020304" pitchFamily="18" charset="0"/>
              </a:rPr>
              <a:t>The collected data is cleaned by removing missing values, handling imbalance using SMOTE and selecting important features so the model can learn meaningful patterns.</a:t>
            </a:r>
          </a:p>
          <a:p>
            <a:pPr algn="just"/>
            <a:r>
              <a:rPr lang="en-US" sz="2400" b="1" dirty="0">
                <a:latin typeface="Times New Roman" panose="02020603050405020304" pitchFamily="18" charset="0"/>
                <a:cs typeface="Times New Roman" panose="02020603050405020304" pitchFamily="18" charset="0"/>
              </a:rPr>
              <a:t>Data Splitting:</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The processed dataset is divided into training and testing sets, where 80% of data is used to train the model and 20% is used to evaluate its performance.</a:t>
            </a:r>
          </a:p>
        </p:txBody>
      </p:sp>
      <p:pic>
        <p:nvPicPr>
          <p:cNvPr id="137" name="Picture 4" descr="Picture 4"/>
          <p:cNvPicPr>
            <a:picLocks noChangeAspect="1"/>
          </p:cNvPicPr>
          <p:nvPr/>
        </p:nvPicPr>
        <p:blipFill>
          <a:blip r:embed="rId2"/>
          <a:stretch>
            <a:fillRect/>
          </a:stretch>
        </p:blipFill>
        <p:spPr>
          <a:xfrm>
            <a:off x="1" y="0"/>
            <a:ext cx="1087120" cy="975361"/>
          </a:xfrm>
          <a:prstGeom prst="rect">
            <a:avLst/>
          </a:prstGeom>
          <a:ln w="12700">
            <a:miter lim="400000"/>
          </a:ln>
        </p:spPr>
      </p:pic>
      <p:cxnSp>
        <p:nvCxnSpPr>
          <p:cNvPr id="3" name="Straight Connector 2">
            <a:extLst>
              <a:ext uri="{FF2B5EF4-FFF2-40B4-BE49-F238E27FC236}">
                <a16:creationId xmlns:a16="http://schemas.microsoft.com/office/drawing/2014/main" id="{4449CBB1-91F5-89B3-0C8C-A1A2253033E1}"/>
              </a:ext>
            </a:extLst>
          </p:cNvPr>
          <p:cNvCxnSpPr>
            <a:cxnSpLocks/>
          </p:cNvCxnSpPr>
          <p:nvPr/>
        </p:nvCxnSpPr>
        <p:spPr>
          <a:xfrm>
            <a:off x="0" y="1140514"/>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1A75EBAC-E19C-676E-3A8E-8103C1AD27EF}"/>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58561B6C-B9CC-2E78-4618-8A200AACBC2C}"/>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Detecting Side Effects of Adverse Drug Reactions Through Drug-Drug Interactions Using Graph Neural Networks and Self-Supervised Learning</a:t>
            </a:r>
            <a:endParaRPr kumimoji="0" lang="en-IN" sz="1400" b="0" i="0" u="none" strike="noStrike" cap="none" spc="0" normalizeH="0" baseline="0">
              <a:ln>
                <a:noFill/>
              </a:ln>
              <a:solidFill>
                <a:srgbClr val="000000"/>
              </a:solidFill>
              <a:effectLst/>
              <a:uFillTx/>
              <a:latin typeface="+mj-lt"/>
              <a:ea typeface="+mj-ea"/>
              <a:cs typeface="+mj-cs"/>
              <a:sym typeface="Calibri"/>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B9112-39A7-2071-C21A-F641753DF86A}"/>
            </a:ext>
          </a:extLst>
        </p:cNvPr>
        <p:cNvGrpSpPr/>
        <p:nvPr/>
      </p:nvGrpSpPr>
      <p:grpSpPr>
        <a:xfrm>
          <a:off x="0" y="0"/>
          <a:ext cx="0" cy="0"/>
          <a:chOff x="0" y="0"/>
          <a:chExt cx="0" cy="0"/>
        </a:xfrm>
      </p:grpSpPr>
      <p:sp>
        <p:nvSpPr>
          <p:cNvPr id="135" name="IMPLEMENTATION">
            <a:extLst>
              <a:ext uri="{FF2B5EF4-FFF2-40B4-BE49-F238E27FC236}">
                <a16:creationId xmlns:a16="http://schemas.microsoft.com/office/drawing/2014/main" id="{EBE812F8-7B70-A7C9-4841-4BBF1397C581}"/>
              </a:ext>
            </a:extLst>
          </p:cNvPr>
          <p:cNvSpPr txBox="1">
            <a:spLocks noGrp="1"/>
          </p:cNvSpPr>
          <p:nvPr>
            <p:ph type="title"/>
          </p:nvPr>
        </p:nvSpPr>
        <p:spPr>
          <a:xfrm>
            <a:off x="838200" y="165153"/>
            <a:ext cx="10515600" cy="810208"/>
          </a:xfrm>
          <a:prstGeom prst="rect">
            <a:avLst/>
          </a:prstGeom>
        </p:spPr>
        <p:txBody>
          <a:bodyPr>
            <a:normAutofit/>
          </a:bodyPr>
          <a:lstStyle>
            <a:lvl1pPr algn="ctr">
              <a:defRPr>
                <a:latin typeface="Times New Roman"/>
                <a:ea typeface="Times New Roman"/>
                <a:cs typeface="Times New Roman"/>
                <a:sym typeface="Times New Roman"/>
              </a:defRPr>
            </a:lvl1pPr>
          </a:lstStyle>
          <a:p>
            <a:r>
              <a:rPr sz="4000" b="1"/>
              <a:t>IMPLEMENTATION</a:t>
            </a:r>
          </a:p>
        </p:txBody>
      </p:sp>
      <p:sp>
        <p:nvSpPr>
          <p:cNvPr id="136" name="Data Collection &amp; Preprocessing : Gather clinical text and ICD-10 codes.…">
            <a:extLst>
              <a:ext uri="{FF2B5EF4-FFF2-40B4-BE49-F238E27FC236}">
                <a16:creationId xmlns:a16="http://schemas.microsoft.com/office/drawing/2014/main" id="{6ADD4870-DD27-19B3-A7D5-41EA74D1F498}"/>
              </a:ext>
            </a:extLst>
          </p:cNvPr>
          <p:cNvSpPr txBox="1">
            <a:spLocks noGrp="1"/>
          </p:cNvSpPr>
          <p:nvPr>
            <p:ph type="body" sz="half" idx="1"/>
          </p:nvPr>
        </p:nvSpPr>
        <p:spPr>
          <a:xfrm>
            <a:off x="243840" y="1427587"/>
            <a:ext cx="11612880" cy="5016720"/>
          </a:xfrm>
          <a:prstGeom prst="rect">
            <a:avLst/>
          </a:prstGeom>
        </p:spPr>
        <p:txBody>
          <a:bodyPr>
            <a:normAutofit fontScale="92500" lnSpcReduction="20000"/>
          </a:bodyPr>
          <a:lstStyle/>
          <a:p>
            <a:pPr algn="just"/>
            <a:r>
              <a:rPr lang="en-US" sz="2400" b="1" dirty="0">
                <a:latin typeface="Times New Roman" panose="02020603050405020304" pitchFamily="18" charset="0"/>
                <a:cs typeface="Times New Roman" panose="02020603050405020304" pitchFamily="18" charset="0"/>
              </a:rPr>
              <a:t>Performance Evaluation:</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Each model is evaluated using accuracy, precision, recall, F1-score and confusion matrix to measure prediction correctness.</a:t>
            </a:r>
          </a:p>
          <a:p>
            <a:pPr algn="just"/>
            <a:r>
              <a:rPr lang="en-US" sz="2400" b="1" dirty="0">
                <a:latin typeface="Times New Roman" panose="02020603050405020304" pitchFamily="18" charset="0"/>
                <a:cs typeface="Times New Roman" panose="02020603050405020304" pitchFamily="18" charset="0"/>
              </a:rPr>
              <a:t>Best Model Selection:</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The algorithm with highest accuracy and least prediction error is selected as the final model for prediction.</a:t>
            </a:r>
          </a:p>
          <a:p>
            <a:pPr algn="just"/>
            <a:r>
              <a:rPr lang="en-US" sz="2400" b="1" dirty="0">
                <a:latin typeface="Times New Roman" panose="02020603050405020304" pitchFamily="18" charset="0"/>
                <a:cs typeface="Times New Roman" panose="02020603050405020304" pitchFamily="18" charset="0"/>
              </a:rPr>
              <a:t>Explainable AI:</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An explainability technique is used to identify which health factors contribute most to stroke prediction.</a:t>
            </a:r>
          </a:p>
          <a:p>
            <a:pPr algn="just"/>
            <a:r>
              <a:rPr lang="en-US" sz="2400" b="1" dirty="0">
                <a:latin typeface="Times New Roman" panose="02020603050405020304" pitchFamily="18" charset="0"/>
                <a:cs typeface="Times New Roman" panose="02020603050405020304" pitchFamily="18" charset="0"/>
              </a:rPr>
              <a:t>Prediction:</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Finally, new patient data is given to the trained model to predict whether the person has stroke risk or not.</a:t>
            </a:r>
          </a:p>
          <a:p>
            <a:pPr algn="just"/>
            <a:r>
              <a:rPr lang="en-US" sz="2400" b="1" dirty="0">
                <a:latin typeface="Times New Roman" panose="02020603050405020304" pitchFamily="18" charset="0"/>
                <a:cs typeface="Times New Roman" panose="02020603050405020304" pitchFamily="18" charset="0"/>
              </a:rPr>
              <a:t>Model Training:</a:t>
            </a:r>
            <a:endParaRPr lang="en-US" sz="2400" dirty="0">
              <a:latin typeface="Times New Roman" panose="02020603050405020304" pitchFamily="18" charset="0"/>
              <a:cs typeface="Times New Roman" panose="02020603050405020304" pitchFamily="18" charset="0"/>
            </a:endParaRPr>
          </a:p>
          <a:p>
            <a:pPr marL="495300" lvl="1" indent="0" algn="just">
              <a:buNone/>
            </a:pPr>
            <a:r>
              <a:rPr lang="en-US" sz="2400" dirty="0">
                <a:latin typeface="Times New Roman" panose="02020603050405020304" pitchFamily="18" charset="0"/>
                <a:cs typeface="Times New Roman" panose="02020603050405020304" pitchFamily="18" charset="0"/>
              </a:rPr>
              <a:t>Multiple machine learning algorithms are applied to the training data so that the system learns how to differentiate between stroke and normal patients.</a:t>
            </a:r>
          </a:p>
        </p:txBody>
      </p:sp>
      <p:pic>
        <p:nvPicPr>
          <p:cNvPr id="137" name="Picture 4" descr="Picture 4">
            <a:extLst>
              <a:ext uri="{FF2B5EF4-FFF2-40B4-BE49-F238E27FC236}">
                <a16:creationId xmlns:a16="http://schemas.microsoft.com/office/drawing/2014/main" id="{D81E17BF-70A7-54D0-A10A-751E0EB9CBD2}"/>
              </a:ext>
            </a:extLst>
          </p:cNvPr>
          <p:cNvPicPr>
            <a:picLocks noChangeAspect="1"/>
          </p:cNvPicPr>
          <p:nvPr/>
        </p:nvPicPr>
        <p:blipFill>
          <a:blip r:embed="rId2"/>
          <a:stretch>
            <a:fillRect/>
          </a:stretch>
        </p:blipFill>
        <p:spPr>
          <a:xfrm>
            <a:off x="1" y="0"/>
            <a:ext cx="1087120" cy="975361"/>
          </a:xfrm>
          <a:prstGeom prst="rect">
            <a:avLst/>
          </a:prstGeom>
          <a:ln w="12700">
            <a:miter lim="400000"/>
          </a:ln>
        </p:spPr>
      </p:pic>
      <p:cxnSp>
        <p:nvCxnSpPr>
          <p:cNvPr id="3" name="Straight Connector 2">
            <a:extLst>
              <a:ext uri="{FF2B5EF4-FFF2-40B4-BE49-F238E27FC236}">
                <a16:creationId xmlns:a16="http://schemas.microsoft.com/office/drawing/2014/main" id="{FFDA5508-AF0C-756C-87D0-6576E3072DA7}"/>
              </a:ext>
            </a:extLst>
          </p:cNvPr>
          <p:cNvCxnSpPr>
            <a:cxnSpLocks/>
          </p:cNvCxnSpPr>
          <p:nvPr/>
        </p:nvCxnSpPr>
        <p:spPr>
          <a:xfrm>
            <a:off x="0" y="1140514"/>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FE587B26-8849-01DF-0052-0F57DBA38D52}"/>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190EEF6C-A721-0FBB-A775-15DE0118854B}"/>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Detecting Side Effects of Adverse Drug Reactions Through Drug-Drug Interactions Using Graph Neural Networks and Self-Supervised Learning</a:t>
            </a:r>
            <a:endParaRPr kumimoji="0" lang="en-IN" sz="14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202735352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F7CC6-6125-8024-66F5-FD99D2A65C16}"/>
            </a:ext>
          </a:extLst>
        </p:cNvPr>
        <p:cNvGrpSpPr/>
        <p:nvPr/>
      </p:nvGrpSpPr>
      <p:grpSpPr>
        <a:xfrm>
          <a:off x="0" y="0"/>
          <a:ext cx="0" cy="0"/>
          <a:chOff x="0" y="0"/>
          <a:chExt cx="0" cy="0"/>
        </a:xfrm>
      </p:grpSpPr>
      <p:sp>
        <p:nvSpPr>
          <p:cNvPr id="135" name="IMPLEMENTATION">
            <a:extLst>
              <a:ext uri="{FF2B5EF4-FFF2-40B4-BE49-F238E27FC236}">
                <a16:creationId xmlns:a16="http://schemas.microsoft.com/office/drawing/2014/main" id="{CFE73960-DB5C-0ADB-DCBF-6C689D2123CC}"/>
              </a:ext>
            </a:extLst>
          </p:cNvPr>
          <p:cNvSpPr txBox="1">
            <a:spLocks noGrp="1"/>
          </p:cNvSpPr>
          <p:nvPr>
            <p:ph type="title"/>
          </p:nvPr>
        </p:nvSpPr>
        <p:spPr>
          <a:xfrm>
            <a:off x="838200" y="165153"/>
            <a:ext cx="10515600" cy="810208"/>
          </a:xfrm>
          <a:prstGeom prst="rect">
            <a:avLst/>
          </a:prstGeom>
        </p:spPr>
        <p:txBody>
          <a:bodyPr>
            <a:normAutofit/>
          </a:bodyPr>
          <a:lstStyle>
            <a:lvl1pPr algn="ctr">
              <a:defRPr>
                <a:latin typeface="Times New Roman"/>
                <a:ea typeface="Times New Roman"/>
                <a:cs typeface="Times New Roman"/>
                <a:sym typeface="Times New Roman"/>
              </a:defRPr>
            </a:lvl1pPr>
          </a:lstStyle>
          <a:p>
            <a:r>
              <a:rPr lang="en-US" sz="4000" b="1" dirty="0"/>
              <a:t>SOCIETAL NEEDS</a:t>
            </a:r>
            <a:endParaRPr sz="4000" b="1" dirty="0"/>
          </a:p>
        </p:txBody>
      </p:sp>
      <p:sp>
        <p:nvSpPr>
          <p:cNvPr id="136" name="Data Collection &amp; Preprocessing : Gather clinical text and ICD-10 codes.…">
            <a:extLst>
              <a:ext uri="{FF2B5EF4-FFF2-40B4-BE49-F238E27FC236}">
                <a16:creationId xmlns:a16="http://schemas.microsoft.com/office/drawing/2014/main" id="{E4449918-6F32-3352-F126-0FD9A983A68E}"/>
              </a:ext>
            </a:extLst>
          </p:cNvPr>
          <p:cNvSpPr txBox="1">
            <a:spLocks noGrp="1"/>
          </p:cNvSpPr>
          <p:nvPr>
            <p:ph type="body" sz="half" idx="1"/>
          </p:nvPr>
        </p:nvSpPr>
        <p:spPr>
          <a:xfrm>
            <a:off x="320040" y="1676127"/>
            <a:ext cx="11612880" cy="5016720"/>
          </a:xfrm>
          <a:prstGeom prst="rect">
            <a:avLst/>
          </a:prstGeom>
        </p:spPr>
        <p:txBody>
          <a:bodyPr>
            <a:normAutofit/>
          </a:bodyPr>
          <a:lstStyle/>
          <a:p>
            <a:pPr algn="just"/>
            <a:r>
              <a:rPr lang="en-US" sz="2400" dirty="0">
                <a:latin typeface="Times New Roman" panose="02020603050405020304" pitchFamily="18" charset="0"/>
                <a:cs typeface="Times New Roman" panose="02020603050405020304" pitchFamily="18" charset="0"/>
              </a:rPr>
              <a:t>Stroke is a major global health concern and one of the leading causes of mortality and long-term disability. Early risk identification can significantly reduce fatal outcomes and improve quality of life. However, selecting an appropriate and reliable prediction model remains a challenge in healthcare analytics.</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project addresses that societal need by systematically comparing multiple machine learning algorithms to identify the most accurate and dependable model for stroke risk prediction. By enhancing prediction reliability and supporting data-driven healthcare decisions, the study contributes toward preventive healthcare strategies and technological advancement in medical research.</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137" name="Picture 4" descr="Picture 4">
            <a:extLst>
              <a:ext uri="{FF2B5EF4-FFF2-40B4-BE49-F238E27FC236}">
                <a16:creationId xmlns:a16="http://schemas.microsoft.com/office/drawing/2014/main" id="{6E6580F6-B7B9-D919-5843-D2893CD03256}"/>
              </a:ext>
            </a:extLst>
          </p:cNvPr>
          <p:cNvPicPr>
            <a:picLocks noChangeAspect="1"/>
          </p:cNvPicPr>
          <p:nvPr/>
        </p:nvPicPr>
        <p:blipFill>
          <a:blip r:embed="rId2"/>
          <a:stretch>
            <a:fillRect/>
          </a:stretch>
        </p:blipFill>
        <p:spPr>
          <a:xfrm>
            <a:off x="1" y="0"/>
            <a:ext cx="1087120" cy="975361"/>
          </a:xfrm>
          <a:prstGeom prst="rect">
            <a:avLst/>
          </a:prstGeom>
          <a:ln w="12700">
            <a:miter lim="400000"/>
          </a:ln>
        </p:spPr>
      </p:pic>
      <p:cxnSp>
        <p:nvCxnSpPr>
          <p:cNvPr id="3" name="Straight Connector 2">
            <a:extLst>
              <a:ext uri="{FF2B5EF4-FFF2-40B4-BE49-F238E27FC236}">
                <a16:creationId xmlns:a16="http://schemas.microsoft.com/office/drawing/2014/main" id="{EE54A8BF-8007-CC2C-57B1-58C8242B74E1}"/>
              </a:ext>
            </a:extLst>
          </p:cNvPr>
          <p:cNvCxnSpPr>
            <a:cxnSpLocks/>
          </p:cNvCxnSpPr>
          <p:nvPr/>
        </p:nvCxnSpPr>
        <p:spPr>
          <a:xfrm>
            <a:off x="0" y="1140514"/>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7" name="Straight Connector 6">
            <a:extLst>
              <a:ext uri="{FF2B5EF4-FFF2-40B4-BE49-F238E27FC236}">
                <a16:creationId xmlns:a16="http://schemas.microsoft.com/office/drawing/2014/main" id="{6A2BAC19-ABBA-B11F-0793-21844EDDFC69}"/>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8" name="TextBox 7">
            <a:extLst>
              <a:ext uri="{FF2B5EF4-FFF2-40B4-BE49-F238E27FC236}">
                <a16:creationId xmlns:a16="http://schemas.microsoft.com/office/drawing/2014/main" id="{DD173FE7-E9CF-147B-4774-8221562E9DDC}"/>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Detecting Side Effects of Adverse Drug Reactions Through Drug-Drug Interactions Using Graph Neural Networks and Self-Supervised Learning</a:t>
            </a:r>
            <a:endParaRPr kumimoji="0" lang="en-IN" sz="14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67244253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RESULTS AND DISCUSSION"/>
          <p:cNvSpPr txBox="1">
            <a:spLocks noGrp="1"/>
          </p:cNvSpPr>
          <p:nvPr>
            <p:ph type="title"/>
          </p:nvPr>
        </p:nvSpPr>
        <p:spPr>
          <a:xfrm>
            <a:off x="838200" y="152400"/>
            <a:ext cx="10515600" cy="640080"/>
          </a:xfrm>
          <a:prstGeom prst="rect">
            <a:avLst/>
          </a:prstGeom>
        </p:spPr>
        <p:txBody>
          <a:bodyPr>
            <a:normAutofit/>
          </a:bodyPr>
          <a:lstStyle>
            <a:lvl1pPr algn="ctr"/>
          </a:lstStyle>
          <a:p>
            <a:r>
              <a:rPr sz="4000" b="1">
                <a:latin typeface="Times New Roman" panose="02020603050405020304" pitchFamily="18" charset="0"/>
                <a:cs typeface="Times New Roman" panose="02020603050405020304" pitchFamily="18" charset="0"/>
              </a:rPr>
              <a:t>RESULTS AND DISCUSSION</a:t>
            </a:r>
          </a:p>
        </p:txBody>
      </p:sp>
      <p:pic>
        <p:nvPicPr>
          <p:cNvPr id="146" name="Picture 4" descr="Picture 4"/>
          <p:cNvPicPr>
            <a:picLocks noChangeAspect="1"/>
          </p:cNvPicPr>
          <p:nvPr/>
        </p:nvPicPr>
        <p:blipFill>
          <a:blip r:embed="rId2"/>
          <a:stretch>
            <a:fillRect/>
          </a:stretch>
        </p:blipFill>
        <p:spPr>
          <a:xfrm>
            <a:off x="0" y="-1"/>
            <a:ext cx="1036320" cy="792481"/>
          </a:xfrm>
          <a:prstGeom prst="rect">
            <a:avLst/>
          </a:prstGeom>
          <a:ln w="12700">
            <a:miter lim="400000"/>
          </a:ln>
        </p:spPr>
      </p:pic>
      <p:cxnSp>
        <p:nvCxnSpPr>
          <p:cNvPr id="3" name="Straight Connector 2">
            <a:extLst>
              <a:ext uri="{FF2B5EF4-FFF2-40B4-BE49-F238E27FC236}">
                <a16:creationId xmlns:a16="http://schemas.microsoft.com/office/drawing/2014/main" id="{2187E575-DF95-5430-4C0B-AA300A1695AB}"/>
              </a:ext>
            </a:extLst>
          </p:cNvPr>
          <p:cNvCxnSpPr/>
          <p:nvPr/>
        </p:nvCxnSpPr>
        <p:spPr>
          <a:xfrm flipV="1">
            <a:off x="0" y="873760"/>
            <a:ext cx="12192000" cy="9144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AE842824-CE40-7C5C-08B6-D1211A3341B6}"/>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1EA7FAFB-3FC8-D5CD-B67E-1A31DAB09189}"/>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pic>
        <p:nvPicPr>
          <p:cNvPr id="2" name="Picture 1">
            <a:extLst>
              <a:ext uri="{FF2B5EF4-FFF2-40B4-BE49-F238E27FC236}">
                <a16:creationId xmlns:a16="http://schemas.microsoft.com/office/drawing/2014/main" id="{DF5A3F98-E8FE-074C-8915-EE2ED6590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827" y="1137444"/>
            <a:ext cx="11060985" cy="4583112"/>
          </a:xfrm>
          <a:prstGeom prst="rect">
            <a:avLst/>
          </a:prstGeom>
        </p:spPr>
      </p:pic>
      <p:sp>
        <p:nvSpPr>
          <p:cNvPr id="7" name="AutoShape 2" descr="Output image">
            <a:extLst>
              <a:ext uri="{FF2B5EF4-FFF2-40B4-BE49-F238E27FC236}">
                <a16:creationId xmlns:a16="http://schemas.microsoft.com/office/drawing/2014/main" id="{7501EF67-E92A-9068-1EBA-DF7292F90C0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D3BF62FC-17C3-329E-C0DD-BF3A646C5F2A}"/>
              </a:ext>
            </a:extLst>
          </p:cNvPr>
          <p:cNvPicPr>
            <a:picLocks noChangeAspect="1"/>
          </p:cNvPicPr>
          <p:nvPr/>
        </p:nvPicPr>
        <p:blipFill>
          <a:blip r:embed="rId4">
            <a:extLst>
              <a:ext uri="{28A0092B-C50C-407E-A947-70E740481C1C}">
                <a14:useLocalDpi xmlns:a14="http://schemas.microsoft.com/office/drawing/2010/main" val="0"/>
              </a:ext>
            </a:extLst>
          </a:blip>
          <a:srcRect l="4750" t="12349"/>
          <a:stretch>
            <a:fillRect/>
          </a:stretch>
        </p:blipFill>
        <p:spPr>
          <a:xfrm>
            <a:off x="5810491" y="2349661"/>
            <a:ext cx="4409954" cy="3186778"/>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1A7F4-7219-FC15-A0DA-E985648D535F}"/>
            </a:ext>
          </a:extLst>
        </p:cNvPr>
        <p:cNvGrpSpPr/>
        <p:nvPr/>
      </p:nvGrpSpPr>
      <p:grpSpPr>
        <a:xfrm>
          <a:off x="0" y="0"/>
          <a:ext cx="0" cy="0"/>
          <a:chOff x="0" y="0"/>
          <a:chExt cx="0" cy="0"/>
        </a:xfrm>
      </p:grpSpPr>
      <p:sp>
        <p:nvSpPr>
          <p:cNvPr id="144" name="RESULTS AND DISCUSSION">
            <a:extLst>
              <a:ext uri="{FF2B5EF4-FFF2-40B4-BE49-F238E27FC236}">
                <a16:creationId xmlns:a16="http://schemas.microsoft.com/office/drawing/2014/main" id="{4F495923-B7C8-79F5-BFBD-481E70A6E51D}"/>
              </a:ext>
            </a:extLst>
          </p:cNvPr>
          <p:cNvSpPr txBox="1">
            <a:spLocks noGrp="1"/>
          </p:cNvSpPr>
          <p:nvPr>
            <p:ph type="title"/>
          </p:nvPr>
        </p:nvSpPr>
        <p:spPr>
          <a:xfrm>
            <a:off x="838200" y="152400"/>
            <a:ext cx="10515600" cy="640080"/>
          </a:xfrm>
          <a:prstGeom prst="rect">
            <a:avLst/>
          </a:prstGeom>
        </p:spPr>
        <p:txBody>
          <a:bodyPr>
            <a:normAutofit/>
          </a:bodyPr>
          <a:lstStyle>
            <a:lvl1pPr algn="ctr"/>
          </a:lstStyle>
          <a:p>
            <a:r>
              <a:rPr sz="4000" b="1">
                <a:latin typeface="Times New Roman" panose="02020603050405020304" pitchFamily="18" charset="0"/>
                <a:cs typeface="Times New Roman" panose="02020603050405020304" pitchFamily="18" charset="0"/>
              </a:rPr>
              <a:t>RESULTS AND DISCUSSION</a:t>
            </a:r>
          </a:p>
        </p:txBody>
      </p:sp>
      <p:pic>
        <p:nvPicPr>
          <p:cNvPr id="146" name="Picture 4" descr="Picture 4">
            <a:extLst>
              <a:ext uri="{FF2B5EF4-FFF2-40B4-BE49-F238E27FC236}">
                <a16:creationId xmlns:a16="http://schemas.microsoft.com/office/drawing/2014/main" id="{2AC5BBF8-50D4-D8AB-53BA-0F26EB90429E}"/>
              </a:ext>
            </a:extLst>
          </p:cNvPr>
          <p:cNvPicPr>
            <a:picLocks noChangeAspect="1"/>
          </p:cNvPicPr>
          <p:nvPr/>
        </p:nvPicPr>
        <p:blipFill>
          <a:blip r:embed="rId2"/>
          <a:stretch>
            <a:fillRect/>
          </a:stretch>
        </p:blipFill>
        <p:spPr>
          <a:xfrm>
            <a:off x="0" y="-1"/>
            <a:ext cx="1036320" cy="792481"/>
          </a:xfrm>
          <a:prstGeom prst="rect">
            <a:avLst/>
          </a:prstGeom>
          <a:ln w="12700">
            <a:miter lim="400000"/>
          </a:ln>
        </p:spPr>
      </p:pic>
      <p:cxnSp>
        <p:nvCxnSpPr>
          <p:cNvPr id="3" name="Straight Connector 2">
            <a:extLst>
              <a:ext uri="{FF2B5EF4-FFF2-40B4-BE49-F238E27FC236}">
                <a16:creationId xmlns:a16="http://schemas.microsoft.com/office/drawing/2014/main" id="{F1EE6FA5-020F-B24D-95B6-B3B3667324BA}"/>
              </a:ext>
            </a:extLst>
          </p:cNvPr>
          <p:cNvCxnSpPr/>
          <p:nvPr/>
        </p:nvCxnSpPr>
        <p:spPr>
          <a:xfrm flipV="1">
            <a:off x="0" y="873760"/>
            <a:ext cx="12192000" cy="9144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B9B702A3-0CE9-B013-9D53-B7556D071C11}"/>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362137A8-8C5F-302B-00CE-626B623172BC}"/>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pic>
        <p:nvPicPr>
          <p:cNvPr id="7" name="Picture 6">
            <a:extLst>
              <a:ext uri="{FF2B5EF4-FFF2-40B4-BE49-F238E27FC236}">
                <a16:creationId xmlns:a16="http://schemas.microsoft.com/office/drawing/2014/main" id="{42B3E544-7B10-881E-F20F-F932918B7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970" y="1300424"/>
            <a:ext cx="5468935" cy="4490832"/>
          </a:xfrm>
          <a:prstGeom prst="rect">
            <a:avLst/>
          </a:prstGeom>
        </p:spPr>
      </p:pic>
      <p:pic>
        <p:nvPicPr>
          <p:cNvPr id="8" name="Picture 7">
            <a:extLst>
              <a:ext uri="{FF2B5EF4-FFF2-40B4-BE49-F238E27FC236}">
                <a16:creationId xmlns:a16="http://schemas.microsoft.com/office/drawing/2014/main" id="{370EFE7A-3148-F378-728A-4BEBD1F165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6480" y="1300424"/>
            <a:ext cx="5731510" cy="4520427"/>
          </a:xfrm>
          <a:prstGeom prst="rect">
            <a:avLst/>
          </a:prstGeom>
        </p:spPr>
      </p:pic>
    </p:spTree>
    <p:extLst>
      <p:ext uri="{BB962C8B-B14F-4D97-AF65-F5344CB8AC3E}">
        <p14:creationId xmlns:p14="http://schemas.microsoft.com/office/powerpoint/2010/main" val="386229119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B0E92-6482-EB28-54C7-B518028F860B}"/>
            </a:ext>
          </a:extLst>
        </p:cNvPr>
        <p:cNvGrpSpPr/>
        <p:nvPr/>
      </p:nvGrpSpPr>
      <p:grpSpPr>
        <a:xfrm>
          <a:off x="0" y="0"/>
          <a:ext cx="0" cy="0"/>
          <a:chOff x="0" y="0"/>
          <a:chExt cx="0" cy="0"/>
        </a:xfrm>
      </p:grpSpPr>
      <p:sp>
        <p:nvSpPr>
          <p:cNvPr id="149" name="REFERENCES">
            <a:extLst>
              <a:ext uri="{FF2B5EF4-FFF2-40B4-BE49-F238E27FC236}">
                <a16:creationId xmlns:a16="http://schemas.microsoft.com/office/drawing/2014/main" id="{5920705E-C601-EA17-2A8C-CDB348A9FE1C}"/>
              </a:ext>
            </a:extLst>
          </p:cNvPr>
          <p:cNvSpPr txBox="1">
            <a:spLocks noGrp="1"/>
          </p:cNvSpPr>
          <p:nvPr>
            <p:ph type="title"/>
          </p:nvPr>
        </p:nvSpPr>
        <p:spPr>
          <a:xfrm>
            <a:off x="838200" y="162560"/>
            <a:ext cx="10515600" cy="497840"/>
          </a:xfrm>
          <a:prstGeom prst="rect">
            <a:avLst/>
          </a:prstGeom>
        </p:spPr>
        <p:txBody>
          <a:bodyPr>
            <a:normAutofit fontScale="90000"/>
          </a:bodyPr>
          <a:lstStyle>
            <a:lvl1pPr algn="ctr">
              <a:lnSpc>
                <a:spcPct val="100000"/>
              </a:lnSpc>
              <a:defRPr>
                <a:latin typeface="Times New Roman"/>
                <a:ea typeface="Times New Roman"/>
                <a:cs typeface="Times New Roman"/>
                <a:sym typeface="Times New Roman"/>
              </a:defRPr>
            </a:lvl1pPr>
          </a:lstStyle>
          <a:p>
            <a:r>
              <a:rPr b="1"/>
              <a:t>REFERENCES</a:t>
            </a:r>
          </a:p>
        </p:txBody>
      </p:sp>
      <p:sp>
        <p:nvSpPr>
          <p:cNvPr id="150" name="[1] Spasic, I. &amp; Nenadic, G. Clinical Text Data in Machine Learning: Systematic Review. JMIR Med. Inf. 8, e17984 (2020).…">
            <a:extLst>
              <a:ext uri="{FF2B5EF4-FFF2-40B4-BE49-F238E27FC236}">
                <a16:creationId xmlns:a16="http://schemas.microsoft.com/office/drawing/2014/main" id="{E63059B4-90E2-AB25-7B75-1AA1A4AFF23D}"/>
              </a:ext>
            </a:extLst>
          </p:cNvPr>
          <p:cNvSpPr txBox="1">
            <a:spLocks noGrp="1"/>
          </p:cNvSpPr>
          <p:nvPr>
            <p:ph type="body" idx="1"/>
          </p:nvPr>
        </p:nvSpPr>
        <p:spPr>
          <a:xfrm>
            <a:off x="264160" y="1016002"/>
            <a:ext cx="11450319" cy="5455918"/>
          </a:xfrm>
          <a:prstGeom prst="rect">
            <a:avLst/>
          </a:prstGeom>
        </p:spPr>
        <p:txBody>
          <a:bodyPr>
            <a:noAutofit/>
          </a:bodyPr>
          <a:lstStyle/>
          <a:p>
            <a:pPr marL="0" indent="0" algn="just">
              <a:buNone/>
            </a:pPr>
            <a:r>
              <a:rPr lang="en-IN" sz="2400">
                <a:latin typeface="Times New Roman" panose="02020603050405020304" pitchFamily="18" charset="0"/>
                <a:cs typeface="Times New Roman" panose="02020603050405020304" pitchFamily="18" charset="0"/>
              </a:rPr>
              <a:t>[1] W. H. Organization, Global Health Estimates: Leading Causes of Death, World Health Organization, 2020. </a:t>
            </a:r>
          </a:p>
          <a:p>
            <a:pPr marL="0" indent="0" algn="just">
              <a:buNone/>
            </a:pPr>
            <a:r>
              <a:rPr lang="en-IN" sz="2400">
                <a:latin typeface="Times New Roman" panose="02020603050405020304" pitchFamily="18" charset="0"/>
                <a:cs typeface="Times New Roman" panose="02020603050405020304" pitchFamily="18" charset="0"/>
              </a:rPr>
              <a:t>[2] B. </a:t>
            </a:r>
            <a:r>
              <a:rPr lang="en-IN" sz="2400" err="1">
                <a:latin typeface="Times New Roman" panose="02020603050405020304" pitchFamily="18" charset="0"/>
                <a:cs typeface="Times New Roman" panose="02020603050405020304" pitchFamily="18" charset="0"/>
              </a:rPr>
              <a:t>Ovbiagele</a:t>
            </a:r>
            <a:r>
              <a:rPr lang="en-IN" sz="2400">
                <a:latin typeface="Times New Roman" panose="02020603050405020304" pitchFamily="18" charset="0"/>
                <a:cs typeface="Times New Roman" panose="02020603050405020304" pitchFamily="18" charset="0"/>
              </a:rPr>
              <a:t> and M. Nguyen-Huynh, Stroke Epidemiology: Advancing Our Understanding of Disease Mechanism and Therapy, Neurotherapeutics, 2011. </a:t>
            </a:r>
          </a:p>
          <a:p>
            <a:pPr marL="0" indent="0" algn="just">
              <a:buNone/>
            </a:pPr>
            <a:r>
              <a:rPr lang="en-IN" sz="2400">
                <a:latin typeface="Times New Roman" panose="02020603050405020304" pitchFamily="18" charset="0"/>
                <a:cs typeface="Times New Roman" panose="02020603050405020304" pitchFamily="18" charset="0"/>
              </a:rPr>
              <a:t>[3] S. Katan and A. Luft, Global Burden of Stroke, Seminars in Neurology, 2018. :</a:t>
            </a:r>
            <a:r>
              <a:rPr lang="en-IN" sz="2400" err="1">
                <a:latin typeface="Times New Roman" panose="02020603050405020304" pitchFamily="18" charset="0"/>
                <a:cs typeface="Times New Roman" panose="02020603050405020304" pitchFamily="18" charset="0"/>
              </a:rPr>
              <a:t>contentReference</a:t>
            </a:r>
            <a:endParaRPr lang="en-IN" sz="2400">
              <a:latin typeface="Times New Roman" panose="02020603050405020304" pitchFamily="18" charset="0"/>
              <a:cs typeface="Times New Roman" panose="02020603050405020304" pitchFamily="18" charset="0"/>
            </a:endParaRPr>
          </a:p>
          <a:p>
            <a:pPr marL="0" indent="0" algn="just">
              <a:buNone/>
            </a:pPr>
            <a:r>
              <a:rPr lang="en-IN" sz="2400">
                <a:latin typeface="Times New Roman" panose="02020603050405020304" pitchFamily="18" charset="0"/>
                <a:cs typeface="Times New Roman" panose="02020603050405020304" pitchFamily="18" charset="0"/>
              </a:rPr>
              <a:t>[4] M. A. </a:t>
            </a:r>
            <a:r>
              <a:rPr lang="en-IN" sz="2400" err="1">
                <a:latin typeface="Times New Roman" panose="02020603050405020304" pitchFamily="18" charset="0"/>
                <a:cs typeface="Times New Roman" panose="02020603050405020304" pitchFamily="18" charset="0"/>
              </a:rPr>
              <a:t>Alkhouli</a:t>
            </a:r>
            <a:r>
              <a:rPr lang="en-IN" sz="2400">
                <a:latin typeface="Times New Roman" panose="02020603050405020304" pitchFamily="18" charset="0"/>
                <a:cs typeface="Times New Roman" panose="02020603050405020304" pitchFamily="18" charset="0"/>
              </a:rPr>
              <a:t> et al., Machine Learning Approaches for Stroke Prediction: A Review, IEEE Access, 2020.</a:t>
            </a:r>
          </a:p>
          <a:p>
            <a:pPr marL="0" indent="0" algn="just">
              <a:buNone/>
            </a:pPr>
            <a:r>
              <a:rPr lang="en-IN" sz="2400">
                <a:latin typeface="Times New Roman" panose="02020603050405020304" pitchFamily="18" charset="0"/>
                <a:cs typeface="Times New Roman" panose="02020603050405020304" pitchFamily="18" charset="0"/>
              </a:rPr>
              <a:t>[5] J. Chen and X. </a:t>
            </a:r>
            <a:r>
              <a:rPr lang="en-IN" sz="2400" err="1">
                <a:latin typeface="Times New Roman" panose="02020603050405020304" pitchFamily="18" charset="0"/>
                <a:cs typeface="Times New Roman" panose="02020603050405020304" pitchFamily="18" charset="0"/>
              </a:rPr>
              <a:t>Guestrin</a:t>
            </a:r>
            <a:r>
              <a:rPr lang="en-IN" sz="2400">
                <a:latin typeface="Times New Roman" panose="02020603050405020304" pitchFamily="18" charset="0"/>
                <a:cs typeface="Times New Roman" panose="02020603050405020304" pitchFamily="18" charset="0"/>
              </a:rPr>
              <a:t>, </a:t>
            </a:r>
            <a:r>
              <a:rPr lang="en-IN" sz="2400" err="1">
                <a:latin typeface="Times New Roman" panose="02020603050405020304" pitchFamily="18" charset="0"/>
                <a:cs typeface="Times New Roman" panose="02020603050405020304" pitchFamily="18" charset="0"/>
              </a:rPr>
              <a:t>XGBoost</a:t>
            </a:r>
            <a:r>
              <a:rPr lang="en-IN" sz="2400">
                <a:latin typeface="Times New Roman" panose="02020603050405020304" pitchFamily="18" charset="0"/>
                <a:cs typeface="Times New Roman" panose="02020603050405020304" pitchFamily="18" charset="0"/>
              </a:rPr>
              <a:t>: A Scalable Tree Boosting System, KDD, 2016. </a:t>
            </a:r>
          </a:p>
          <a:p>
            <a:pPr marL="0" indent="0" algn="just">
              <a:buNone/>
            </a:pPr>
            <a:r>
              <a:rPr lang="en-IN" sz="2400">
                <a:latin typeface="Times New Roman" panose="02020603050405020304" pitchFamily="18" charset="0"/>
                <a:cs typeface="Times New Roman" panose="02020603050405020304" pitchFamily="18" charset="0"/>
              </a:rPr>
              <a:t>[6] S. Lundberg and S.-I. Lee, A Unified Approach to Interpreting Model Predictions (SHAP), </a:t>
            </a:r>
            <a:r>
              <a:rPr lang="en-IN" sz="2400" err="1">
                <a:latin typeface="Times New Roman" panose="02020603050405020304" pitchFamily="18" charset="0"/>
                <a:cs typeface="Times New Roman" panose="02020603050405020304" pitchFamily="18" charset="0"/>
              </a:rPr>
              <a:t>NeurIPS</a:t>
            </a:r>
            <a:r>
              <a:rPr lang="en-IN" sz="2400">
                <a:latin typeface="Times New Roman" panose="02020603050405020304" pitchFamily="18" charset="0"/>
                <a:cs typeface="Times New Roman" panose="02020603050405020304" pitchFamily="18" charset="0"/>
              </a:rPr>
              <a:t>, 2017. </a:t>
            </a:r>
          </a:p>
          <a:p>
            <a:pPr marL="0" indent="0" algn="just">
              <a:buNone/>
            </a:pPr>
            <a:r>
              <a:rPr lang="en-IN" sz="2400">
                <a:latin typeface="Times New Roman" panose="02020603050405020304" pitchFamily="18" charset="0"/>
                <a:cs typeface="Times New Roman" panose="02020603050405020304" pitchFamily="18" charset="0"/>
              </a:rPr>
              <a:t>[7]</a:t>
            </a:r>
            <a:r>
              <a:rPr lang="en-IN" sz="2400" err="1">
                <a:latin typeface="Times New Roman" panose="02020603050405020304" pitchFamily="18" charset="0"/>
                <a:cs typeface="Times New Roman" panose="02020603050405020304" pitchFamily="18" charset="0"/>
              </a:rPr>
              <a:t>D.Molnar,Interpretable</a:t>
            </a:r>
            <a:r>
              <a:rPr lang="en-IN" sz="2400">
                <a:latin typeface="Times New Roman" panose="02020603050405020304" pitchFamily="18" charset="0"/>
                <a:cs typeface="Times New Roman" panose="02020603050405020304" pitchFamily="18" charset="0"/>
              </a:rPr>
              <a:t> 2019.Del Pup and M. Atzori, Self-Supervised Learning in Biomedical Data, IEEE Access,2023.</a:t>
            </a:r>
          </a:p>
        </p:txBody>
      </p:sp>
      <p:pic>
        <p:nvPicPr>
          <p:cNvPr id="151" name="Picture 4" descr="Picture 4">
            <a:extLst>
              <a:ext uri="{FF2B5EF4-FFF2-40B4-BE49-F238E27FC236}">
                <a16:creationId xmlns:a16="http://schemas.microsoft.com/office/drawing/2014/main" id="{92FCACAD-872F-F8CA-35E4-60BBC6E399B3}"/>
              </a:ext>
            </a:extLst>
          </p:cNvPr>
          <p:cNvPicPr>
            <a:picLocks noChangeAspect="1"/>
          </p:cNvPicPr>
          <p:nvPr/>
        </p:nvPicPr>
        <p:blipFill>
          <a:blip r:embed="rId2"/>
          <a:stretch>
            <a:fillRect/>
          </a:stretch>
        </p:blipFill>
        <p:spPr>
          <a:xfrm>
            <a:off x="1" y="-1"/>
            <a:ext cx="1056639" cy="660401"/>
          </a:xfrm>
          <a:prstGeom prst="rect">
            <a:avLst/>
          </a:prstGeom>
          <a:ln w="12700">
            <a:miter lim="400000"/>
          </a:ln>
        </p:spPr>
      </p:pic>
      <p:cxnSp>
        <p:nvCxnSpPr>
          <p:cNvPr id="3" name="Straight Connector 2">
            <a:extLst>
              <a:ext uri="{FF2B5EF4-FFF2-40B4-BE49-F238E27FC236}">
                <a16:creationId xmlns:a16="http://schemas.microsoft.com/office/drawing/2014/main" id="{F48DF093-20A3-E289-B0B2-15FFAD76F3BB}"/>
              </a:ext>
            </a:extLst>
          </p:cNvPr>
          <p:cNvCxnSpPr>
            <a:cxnSpLocks/>
          </p:cNvCxnSpPr>
          <p:nvPr/>
        </p:nvCxnSpPr>
        <p:spPr>
          <a:xfrm flipV="1">
            <a:off x="0" y="822961"/>
            <a:ext cx="12192000" cy="20319"/>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cxnSp>
        <p:nvCxnSpPr>
          <p:cNvPr id="5" name="Straight Connector 4">
            <a:extLst>
              <a:ext uri="{FF2B5EF4-FFF2-40B4-BE49-F238E27FC236}">
                <a16:creationId xmlns:a16="http://schemas.microsoft.com/office/drawing/2014/main" id="{BCC16394-F762-2664-DD6C-35EFBE9A9371}"/>
              </a:ext>
            </a:extLst>
          </p:cNvPr>
          <p:cNvCxnSpPr/>
          <p:nvPr/>
        </p:nvCxnSpPr>
        <p:spPr>
          <a:xfrm>
            <a:off x="30480" y="6421120"/>
            <a:ext cx="12192000" cy="0"/>
          </a:xfrm>
          <a:prstGeom prst="line">
            <a:avLst/>
          </a:prstGeom>
          <a:noFill/>
          <a:ln w="44450" cap="flat">
            <a:solidFill>
              <a:schemeClr val="tx1"/>
            </a:solidFill>
            <a:prstDash val="solid"/>
            <a:miter lim="8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ED1530A0-F515-A692-6865-6978F29DE3C0}"/>
              </a:ext>
            </a:extLst>
          </p:cNvPr>
          <p:cNvSpPr txBox="1"/>
          <p:nvPr/>
        </p:nvSpPr>
        <p:spPr>
          <a:xfrm>
            <a:off x="10160" y="6471920"/>
            <a:ext cx="1195832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400">
                <a:latin typeface="Times New Roman" panose="02020603050405020304" pitchFamily="18" charset="0"/>
                <a:cs typeface="Times New Roman" panose="02020603050405020304" pitchFamily="18" charset="0"/>
              </a:rPr>
              <a:t>Automated Stroke Risk Prediction Using Balanced Machine Learning Models.</a:t>
            </a:r>
            <a:endParaRPr lang="en-IN" sz="1400"/>
          </a:p>
        </p:txBody>
      </p:sp>
    </p:spTree>
    <p:extLst>
      <p:ext uri="{BB962C8B-B14F-4D97-AF65-F5344CB8AC3E}">
        <p14:creationId xmlns:p14="http://schemas.microsoft.com/office/powerpoint/2010/main" val="21613976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5C1086-55EF-87CA-8B72-387BA3EE4D45}"/>
              </a:ext>
            </a:extLst>
          </p:cNvPr>
          <p:cNvSpPr>
            <a:spLocks noGrp="1"/>
          </p:cNvSpPr>
          <p:nvPr>
            <p:ph type="body" idx="1"/>
          </p:nvPr>
        </p:nvSpPr>
        <p:spPr>
          <a:xfrm>
            <a:off x="919480" y="2381091"/>
            <a:ext cx="10515600" cy="2505869"/>
          </a:xfrm>
          <a:solidFill>
            <a:schemeClr val="bg1"/>
          </a:solidFill>
        </p:spPr>
        <p:txBody>
          <a:bodyPr>
            <a:normAutofit/>
          </a:bodyPr>
          <a:lstStyle/>
          <a:p>
            <a:pPr marL="0" indent="0">
              <a:buNone/>
            </a:pPr>
            <a:r>
              <a:rPr lang="en-IN" sz="7200">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265176032"/>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1883</Words>
  <Application>Microsoft Office PowerPoint</Application>
  <PresentationFormat>Widescreen</PresentationFormat>
  <Paragraphs>158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Times New Roman</vt:lpstr>
      <vt:lpstr>Times New Roman Bold</vt:lpstr>
      <vt:lpstr>Office Theme</vt:lpstr>
      <vt:lpstr>Automated Stroke Risk Prediction Using Balanced Machine Learning Models</vt:lpstr>
      <vt:lpstr>AGENDA</vt:lpstr>
      <vt:lpstr>ABSTRACT</vt:lpstr>
      <vt:lpstr>LITERATURE REVIEW</vt:lpstr>
      <vt:lpstr>PROBLEM STATEMENT</vt:lpstr>
      <vt:lpstr>OBJECTIVE</vt:lpstr>
      <vt:lpstr>EXISTING SYSTEM </vt:lpstr>
      <vt:lpstr>DISADVANTAGES </vt:lpstr>
      <vt:lpstr>PROPOSED SYSTEM </vt:lpstr>
      <vt:lpstr>ALGORITHMS </vt:lpstr>
      <vt:lpstr>ALGORITHMS </vt:lpstr>
      <vt:lpstr>REQUIREMENT SPECIFICATIONS</vt:lpstr>
      <vt:lpstr>SYSTEM DESIGN </vt:lpstr>
      <vt:lpstr>IMPLEMENTATION</vt:lpstr>
      <vt:lpstr>IMPLEMENTATION</vt:lpstr>
      <vt:lpstr>SOCIETAL NEEDS</vt:lpstr>
      <vt:lpstr>RESULTS AND DISCUSSION</vt:lpstr>
      <vt:lpstr>RESULTS AND DISCUSSION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Stroke Risk Prediction Using Balanced Machine Learning Models</dc:title>
  <dc:creator>salla pavani</dc:creator>
  <cp:lastModifiedBy>Sruthi Ellandula</cp:lastModifiedBy>
  <cp:revision>3</cp:revision>
  <dcterms:modified xsi:type="dcterms:W3CDTF">2026-02-18T16:03:47Z</dcterms:modified>
</cp:coreProperties>
</file>